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1" r:id="rId5"/>
    <p:sldId id="259" r:id="rId6"/>
    <p:sldId id="260" r:id="rId7"/>
    <p:sldId id="266" r:id="rId8"/>
    <p:sldId id="261" r:id="rId9"/>
    <p:sldId id="262" r:id="rId10"/>
    <p:sldId id="264" r:id="rId11"/>
    <p:sldId id="263" r:id="rId12"/>
    <p:sldId id="267" r:id="rId13"/>
    <p:sldId id="268" r:id="rId14"/>
    <p:sldId id="269" r:id="rId15"/>
    <p:sldId id="272" r:id="rId16"/>
    <p:sldId id="275" r:id="rId17"/>
    <p:sldId id="274" r:id="rId18"/>
    <p:sldId id="270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64"/>
  </p:normalViewPr>
  <p:slideViewPr>
    <p:cSldViewPr snapToGrid="0">
      <p:cViewPr varScale="1">
        <p:scale>
          <a:sx n="93" d="100"/>
          <a:sy n="93" d="100"/>
        </p:scale>
        <p:origin x="24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8C933-9906-B84E-BA8B-4DB7027499CD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21778-832C-8F47-85C4-75A399DBD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81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correlated pleiotropy is balanced, then the Egger’s intercept will be near zero</a:t>
            </a:r>
          </a:p>
          <a:p>
            <a:r>
              <a:rPr lang="en-US" dirty="0"/>
              <a:t>Directional uncorrelated pleiotropy shows up as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21778-832C-8F47-85C4-75A399DBD49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06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F5F8-3AF5-9B4C-A740-39AFCFE0E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F80266-09D0-08C0-C558-EAB3F3FE6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50EC9-24BE-5A10-BBF3-26099C1C8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AE478-D44E-FE42-B366-E8DE952D93E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65475-CDE1-A4AE-4648-C2E05FCB0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41136-86C2-E28C-0750-FB75C6E0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77D1-FD2F-0540-B7AA-E1CD39E3A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76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9789-715C-FCAE-EDEA-325411012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2B123-2AEF-DACB-EC0D-856CAC538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20C9D-6FDD-5E24-2D7A-56D6CC23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AE478-D44E-FE42-B366-E8DE952D93E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43D37-61E7-3A53-C36A-1A1257F7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8E9C3-38C3-BB88-D52B-450E50FE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77D1-FD2F-0540-B7AA-E1CD39E3A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1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8238-0752-8AD9-021C-E5F5FB903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E0D11-23D5-4FEF-FF62-34225F058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BCFF1-5E45-98D2-A70E-00ED622E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AE478-D44E-FE42-B366-E8DE952D93E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32EB8-AC9C-C2AA-53FF-EB96A279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EF5D4-82AB-9DA1-DBC1-40CEA46DF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77D1-FD2F-0540-B7AA-E1CD39E3A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2219C-B26E-1228-57F0-984F7604C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3DECE-5B65-9B09-103B-35CF4EC825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87E35-D61C-6367-CC9D-07F7528F1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64678-BA2E-CCDA-9BC1-FF2D8652D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AE478-D44E-FE42-B366-E8DE952D93E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342AD-9AD0-BFED-600D-898D0ABE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C1CC1-B1C7-490A-4391-070AADA6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77D1-FD2F-0540-B7AA-E1CD39E3A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46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1D9E-5ACB-2FA9-B618-8D35F8DC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8737B-69AF-9CA5-1A28-C1F662339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863FD-0E4F-886D-A871-7BFCA03DD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F49878-5CA1-6E23-1A54-4EAAB8454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DED75-BC02-6C82-4676-576265F582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F45FE-ECBD-A5BC-453A-CDBB6B467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AE478-D44E-FE42-B366-E8DE952D93E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9FE7F-8246-A213-846E-151888A64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73C12E-918C-5FA0-9C9E-478DB2EB2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77D1-FD2F-0540-B7AA-E1CD39E3A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0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4C42-5F81-7EEC-A820-667AD2569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92AC61-298D-8489-CA66-FDF5F899E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AE478-D44E-FE42-B366-E8DE952D93E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7AAF1-614D-3AA0-A6D5-342756224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F1E09-8636-937F-D615-9EFFF1869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77D1-FD2F-0540-B7AA-E1CD39E3A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5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85C63-7207-467C-7B57-0B99379E3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AE478-D44E-FE42-B366-E8DE952D93E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EBF159-5D1E-AF1C-1707-2A4CC42F1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EDC8C-8965-A189-46B7-3EDD18A4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77D1-FD2F-0540-B7AA-E1CD39E3A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753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AA8F-3467-DE9D-AB85-743E68CF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138ED-2077-D1C7-1EBC-45AB6DA0C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B984A-94BF-5FE1-227E-6A38D4078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40565-0D5C-334B-394F-96877E77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AE478-D44E-FE42-B366-E8DE952D93E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31F93-8245-B4A6-8333-F23EAF0CE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7576D-C756-B6D0-CA9D-1026396A3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77D1-FD2F-0540-B7AA-E1CD39E3A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5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7BAA-7F29-F4B8-8669-C04400885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624F67-EEF0-30A6-1858-A7009AF39A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FC817-7D48-7C7D-25A4-790F367B0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7765B-3983-EFDB-CBE4-A67A448A7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AE478-D44E-FE42-B366-E8DE952D93E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483B-2809-C5A6-A5CC-17A8873B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C2D7B-89D3-9D10-6188-D8C60422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77D1-FD2F-0540-B7AA-E1CD39E3A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1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97DD-9F0C-AB78-66CD-9B04109E5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1E664-EE92-24B6-F45B-F74C04169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67977-AFEF-CB95-52F2-8E7F8CC5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AE478-D44E-FE42-B366-E8DE952D93E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2F207-6755-2669-97E6-EE8A1F09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09FC6-6A74-294D-0BEC-EA05190A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77D1-FD2F-0540-B7AA-E1CD39E3A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5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9539F4-71BD-214A-1C6E-0C0FCACCC8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81968-EC4B-FAF6-BF46-5E03AD306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F5A02-B378-43CC-2AC6-1BE29A4A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AE478-D44E-FE42-B366-E8DE952D93E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2DBA1-49CD-0CEB-7AA5-6B55FB7F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7CA52-66A2-96E9-C5CE-F08C2668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A77D1-FD2F-0540-B7AA-E1CD39E3A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01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6B9CCC-6CC1-5D4B-03E2-068B46AF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D702C-DB46-F88D-1064-0002F9A3B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ED316-897A-4698-A6DC-38DF0F6B0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AE478-D44E-FE42-B366-E8DE952D93E4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E72F2-20DD-DBAD-976F-B55F4C2CF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08BEA-74C8-629A-B81C-7264B53AB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A77D1-FD2F-0540-B7AA-E1CD39E3A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0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0EFA0-7AB5-E704-3D78-3591741F4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Calcium-Cholesterol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95823-E2A1-DB23-741D-E8D134BC73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03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lowchart: Document 103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447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7F4827-A44E-6AAC-41E0-3237BA544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Diversity Outbred Mice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F157C7-CD64-C6ED-8EBF-7F07B41E30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69582" y="640080"/>
            <a:ext cx="6824239" cy="55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D8EB4E-BFD6-2498-E93A-49CADAC6C3BF}"/>
              </a:ext>
            </a:extLst>
          </p:cNvPr>
          <p:cNvSpPr txBox="1"/>
          <p:nvPr/>
        </p:nvSpPr>
        <p:spPr>
          <a:xfrm>
            <a:off x="3049121" y="324433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0" dirty="0">
                <a:effectLst/>
              </a:rPr>
              <a:t> 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F810F-2A42-D760-7943-C46191A288FB}"/>
              </a:ext>
            </a:extLst>
          </p:cNvPr>
          <p:cNvSpPr txBox="1"/>
          <p:nvPr/>
        </p:nvSpPr>
        <p:spPr>
          <a:xfrm>
            <a:off x="336176" y="4101353"/>
            <a:ext cx="31331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Saul MC, Philip VM, Reinholdt LG; Center for Systems Neurogenetics of Addiction; Chesler EJ. High-Diversity Mouse Populations for Complex Traits. Trends Genet. 2019 Jul;35(7):501-514. </a:t>
            </a:r>
            <a:r>
              <a:rPr lang="en-US" dirty="0" err="1"/>
              <a:t>doi</a:t>
            </a:r>
            <a:r>
              <a:rPr lang="en-US" dirty="0"/>
              <a:t>: 10.1016/j.tig.2019.04.003.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21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3CB4-4F9C-53F9-2889-4235F938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Diet and Sex on Cholesterol Levels</a:t>
            </a:r>
          </a:p>
        </p:txBody>
      </p:sp>
      <p:pic>
        <p:nvPicPr>
          <p:cNvPr id="2050" name="Picture 2" descr="../../Mouse%20Genetics/Cholesterol/figures/cholesterol-analysis-1.pdf">
            <a:extLst>
              <a:ext uri="{FF2B5EF4-FFF2-40B4-BE49-F238E27FC236}">
                <a16:creationId xmlns:a16="http://schemas.microsoft.com/office/drawing/2014/main" id="{B53EE391-5D9B-5E91-DADF-C65D3D98E8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032" y="1825625"/>
            <a:ext cx="609393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0321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D246-36FA-80EA-AF27-DB487F91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Cholesterol and Triglycerides Levels Correlate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DA849E-9852-5FBD-6A9D-5F13CEA0D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0063" y="1825625"/>
            <a:ext cx="6091873" cy="4351338"/>
          </a:xfrm>
        </p:spPr>
      </p:pic>
    </p:spTree>
    <p:extLst>
      <p:ext uri="{BB962C8B-B14F-4D97-AF65-F5344CB8AC3E}">
        <p14:creationId xmlns:p14="http://schemas.microsoft.com/office/powerpoint/2010/main" val="324991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0F8C5-4281-3CC0-2017-208C9B2E8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 priori</a:t>
            </a:r>
            <a:r>
              <a:rPr lang="en-US" dirty="0"/>
              <a:t> predictors of high cholesterol in mice</a:t>
            </a:r>
            <a:endParaRPr lang="en-US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5BED9D-F7BF-AA6D-84F5-CB0C18931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0063" y="1825625"/>
            <a:ext cx="6091873" cy="4351338"/>
          </a:xfrm>
        </p:spPr>
      </p:pic>
    </p:spTree>
    <p:extLst>
      <p:ext uri="{BB962C8B-B14F-4D97-AF65-F5344CB8AC3E}">
        <p14:creationId xmlns:p14="http://schemas.microsoft.com/office/powerpoint/2010/main" val="385550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96AC-8F19-1E5C-65A5-6908AA6EC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Calcium is Associated with Cholesterol</a:t>
            </a:r>
          </a:p>
        </p:txBody>
      </p:sp>
      <p:pic>
        <p:nvPicPr>
          <p:cNvPr id="3074" name="Picture 2" descr="../../Mouse%20Genetics/Cholesterol/figures/Calcium-1.pdf">
            <a:extLst>
              <a:ext uri="{FF2B5EF4-FFF2-40B4-BE49-F238E27FC236}">
                <a16:creationId xmlns:a16="http://schemas.microsoft.com/office/drawing/2014/main" id="{8D8C37A8-CF39-E3B1-4EB4-9DBA6ED969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032" y="1825625"/>
            <a:ext cx="609393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DD272B-ECA1-D14D-4A6A-B3E565C237E4}"/>
              </a:ext>
            </a:extLst>
          </p:cNvPr>
          <p:cNvSpPr txBox="1"/>
          <p:nvPr/>
        </p:nvSpPr>
        <p:spPr>
          <a:xfrm>
            <a:off x="623455" y="2798618"/>
            <a:ext cx="2008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Explains 38-41% of the variance</a:t>
            </a:r>
          </a:p>
          <a:p>
            <a:endParaRPr lang="en-US" dirty="0"/>
          </a:p>
          <a:p>
            <a:r>
              <a:rPr lang="en-US" dirty="0"/>
              <a:t>Independent of diet and sex</a:t>
            </a:r>
          </a:p>
        </p:txBody>
      </p:sp>
    </p:spTree>
    <p:extLst>
      <p:ext uri="{BB962C8B-B14F-4D97-AF65-F5344CB8AC3E}">
        <p14:creationId xmlns:p14="http://schemas.microsoft.com/office/powerpoint/2010/main" val="3100231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296D3-98F5-075C-9181-FF17E7993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This positive association is also found in humans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12488F-5261-BB65-1939-0AC389232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798078"/>
            <a:ext cx="7347537" cy="52628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D1A240-87EE-D23C-848A-EA180E9895D7}"/>
              </a:ext>
            </a:extLst>
          </p:cNvPr>
          <p:cNvSpPr txBox="1"/>
          <p:nvPr/>
        </p:nvSpPr>
        <p:spPr>
          <a:xfrm>
            <a:off x="7245927" y="5690590"/>
            <a:ext cx="334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Correlation from human studies</a:t>
            </a:r>
          </a:p>
        </p:txBody>
      </p:sp>
    </p:spTree>
    <p:extLst>
      <p:ext uri="{BB962C8B-B14F-4D97-AF65-F5344CB8AC3E}">
        <p14:creationId xmlns:p14="http://schemas.microsoft.com/office/powerpoint/2010/main" val="185141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FE452-A4BF-8E1F-B328-DEEB811F6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9398A-E8E4-8548-9657-6A3AD584E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</a:t>
            </a:r>
            <a:r>
              <a:rPr lang="en-US" u="sng" dirty="0"/>
              <a:t>direction</a:t>
            </a:r>
            <a:r>
              <a:rPr lang="en-US" b="1" dirty="0"/>
              <a:t> </a:t>
            </a:r>
            <a:r>
              <a:rPr lang="en-US" dirty="0"/>
              <a:t>of this relationship</a:t>
            </a:r>
          </a:p>
          <a:p>
            <a:pPr lvl="1"/>
            <a:r>
              <a:rPr lang="en-US" dirty="0"/>
              <a:t>Calcium -&gt; Cholesterol</a:t>
            </a:r>
          </a:p>
          <a:p>
            <a:pPr lvl="1"/>
            <a:r>
              <a:rPr lang="en-US" dirty="0"/>
              <a:t>Cholesterol -&gt; Calcium</a:t>
            </a:r>
          </a:p>
          <a:p>
            <a:pPr lvl="1"/>
            <a:r>
              <a:rPr lang="en-US" dirty="0"/>
              <a:t>Some third factor regulates both</a:t>
            </a:r>
          </a:p>
          <a:p>
            <a:r>
              <a:rPr lang="en-US" dirty="0"/>
              <a:t>What is the </a:t>
            </a:r>
            <a:r>
              <a:rPr lang="en-US" u="sng" dirty="0"/>
              <a:t>relevance</a:t>
            </a:r>
            <a:r>
              <a:rPr lang="en-US" dirty="0"/>
              <a:t> of this relationship</a:t>
            </a:r>
          </a:p>
        </p:txBody>
      </p:sp>
    </p:spTree>
    <p:extLst>
      <p:ext uri="{BB962C8B-B14F-4D97-AF65-F5344CB8AC3E}">
        <p14:creationId xmlns:p14="http://schemas.microsoft.com/office/powerpoint/2010/main" val="418918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E9612-24ED-4C26-11F0-44A1E5B0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Directionality (Ongoing)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69B2F-5081-34BA-1E17-37061CB58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Mice with elevated cholesterol (WT and </a:t>
            </a:r>
            <a:r>
              <a:rPr lang="en-US" i="1" dirty="0" err="1"/>
              <a:t>Ldlr</a:t>
            </a:r>
            <a:r>
              <a:rPr lang="en-US" i="1" dirty="0"/>
              <a:t> </a:t>
            </a:r>
            <a:r>
              <a:rPr lang="en-US" i="1" baseline="30000" dirty="0"/>
              <a:t>-/-</a:t>
            </a:r>
            <a:r>
              <a:rPr lang="en-US" i="1" dirty="0"/>
              <a:t> </a:t>
            </a:r>
            <a:r>
              <a:rPr lang="en-US" dirty="0"/>
              <a:t> knockout mice)</a:t>
            </a:r>
          </a:p>
          <a:p>
            <a:pPr lvl="1"/>
            <a:r>
              <a:rPr lang="en-US" dirty="0"/>
              <a:t>Effects on cholesterol</a:t>
            </a:r>
          </a:p>
          <a:p>
            <a:pPr lvl="1"/>
            <a:r>
              <a:rPr lang="en-US" dirty="0"/>
              <a:t>Effects on calcium</a:t>
            </a:r>
          </a:p>
          <a:p>
            <a:pPr lvl="2"/>
            <a:r>
              <a:rPr lang="en-US" dirty="0"/>
              <a:t>Bone density, bone fragility</a:t>
            </a:r>
          </a:p>
          <a:p>
            <a:r>
              <a:rPr lang="en-US" dirty="0"/>
              <a:t>Mice with elevated calcium (PTH implanted)</a:t>
            </a:r>
          </a:p>
          <a:p>
            <a:pPr lvl="1"/>
            <a:r>
              <a:rPr lang="en-US" dirty="0"/>
              <a:t>Effects on calcium</a:t>
            </a:r>
          </a:p>
          <a:p>
            <a:pPr lvl="1"/>
            <a:r>
              <a:rPr lang="en-US" dirty="0"/>
              <a:t>Effects on cholesterol</a:t>
            </a:r>
          </a:p>
          <a:p>
            <a:r>
              <a:rPr lang="en-US" dirty="0"/>
              <a:t>Mice with elevations in both (PTH + </a:t>
            </a:r>
            <a:r>
              <a:rPr lang="en-US" i="1" dirty="0" err="1"/>
              <a:t>Ldlr</a:t>
            </a:r>
            <a:r>
              <a:rPr lang="en-US" i="1" dirty="0"/>
              <a:t> </a:t>
            </a:r>
            <a:r>
              <a:rPr lang="en-US" i="1" baseline="30000" dirty="0"/>
              <a:t>-/-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413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7D86-ACE3-C4DB-2DD2-204C762F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 demineralization and osteoporosis</a:t>
            </a:r>
          </a:p>
        </p:txBody>
      </p:sp>
      <p:pic>
        <p:nvPicPr>
          <p:cNvPr id="11" name="Content Placeholder 10" descr="A diagram of a health triangle&#10;&#10;AI-generated content may be incorrect.">
            <a:extLst>
              <a:ext uri="{FF2B5EF4-FFF2-40B4-BE49-F238E27FC236}">
                <a16:creationId xmlns:a16="http://schemas.microsoft.com/office/drawing/2014/main" id="{01D8BC24-2A77-F4FF-BA7C-7E3F27902A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tretch>
            <a:fillRect/>
          </a:stretch>
        </p:blipFill>
        <p:spPr bwMode="auto">
          <a:xfrm>
            <a:off x="1253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3D5CD17-2EB3-464D-722B-4F6BEFDB6F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Age related loss of bone density</a:t>
            </a:r>
          </a:p>
          <a:p>
            <a:pPr lvl="1"/>
            <a:r>
              <a:rPr lang="en-US" dirty="0"/>
              <a:t>10M Americans (8M are women)</a:t>
            </a:r>
          </a:p>
          <a:p>
            <a:endParaRPr lang="en-US" dirty="0"/>
          </a:p>
        </p:txBody>
      </p:sp>
      <p:sp>
        <p:nvSpPr>
          <p:cNvPr id="9" name="AutoShape 12" descr="Image of ">
            <a:extLst>
              <a:ext uri="{FF2B5EF4-FFF2-40B4-BE49-F238E27FC236}">
                <a16:creationId xmlns:a16="http://schemas.microsoft.com/office/drawing/2014/main" id="{EF105978-BF01-B63A-533A-670BB25662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04351E-B4DB-FDAF-103E-DDF44081B811}"/>
              </a:ext>
            </a:extLst>
          </p:cNvPr>
          <p:cNvSpPr txBox="1"/>
          <p:nvPr/>
        </p:nvSpPr>
        <p:spPr>
          <a:xfrm>
            <a:off x="1911341" y="6311900"/>
            <a:ext cx="3035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Generated by Google Gemini</a:t>
            </a:r>
          </a:p>
        </p:txBody>
      </p:sp>
    </p:spTree>
    <p:extLst>
      <p:ext uri="{BB962C8B-B14F-4D97-AF65-F5344CB8AC3E}">
        <p14:creationId xmlns:p14="http://schemas.microsoft.com/office/powerpoint/2010/main" val="3173982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BC95-5E21-9609-F149-691A7C07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Cholesterol and Bone Demineralization are Co-morbid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CFF9E-5454-5E4E-52D1-0578474DB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LDL-C is associated with fracture risk </a:t>
            </a:r>
            <a:r>
              <a:rPr lang="en-US" i="1" dirty="0"/>
              <a:t>(</a:t>
            </a:r>
            <a:r>
              <a:rPr lang="en-US" i="1" dirty="0" err="1"/>
              <a:t>Ghorabi</a:t>
            </a:r>
            <a:r>
              <a:rPr lang="en-US" i="1" dirty="0"/>
              <a:t> et al., 2019)</a:t>
            </a:r>
          </a:p>
          <a:p>
            <a:r>
              <a:rPr lang="en-US" dirty="0"/>
              <a:t>Inverse relationship between cardiovascular disease and bone mineral density </a:t>
            </a:r>
            <a:r>
              <a:rPr lang="en-US" i="1" dirty="0"/>
              <a:t>(Iseri et al., 2020; Yang &amp; Huang, 2023)</a:t>
            </a:r>
          </a:p>
          <a:p>
            <a:r>
              <a:rPr lang="en-US" dirty="0"/>
              <a:t>Statins causes a </a:t>
            </a:r>
            <a:r>
              <a:rPr lang="en-US" u="sng" dirty="0"/>
              <a:t>18-19% decline </a:t>
            </a:r>
            <a:r>
              <a:rPr lang="en-US" dirty="0"/>
              <a:t>in fracture risk </a:t>
            </a:r>
            <a:r>
              <a:rPr lang="en-US" i="1" dirty="0"/>
              <a:t>(An et al., 2017)</a:t>
            </a:r>
            <a:r>
              <a:rPr lang="en-US" dirty="0"/>
              <a:t> and a </a:t>
            </a:r>
            <a:r>
              <a:rPr lang="en-US" u="sng" dirty="0"/>
              <a:t>3.2% increase </a:t>
            </a:r>
            <a:r>
              <a:rPr lang="en-US" dirty="0"/>
              <a:t>in BMD (</a:t>
            </a:r>
            <a:r>
              <a:rPr lang="en-US" i="1" dirty="0"/>
              <a:t>Zhao et al., 2013, </a:t>
            </a:r>
            <a:r>
              <a:rPr lang="en-US" i="1" dirty="0" err="1"/>
              <a:t>Cheungsaman</a:t>
            </a:r>
            <a:r>
              <a:rPr lang="en-US" i="1" dirty="0"/>
              <a:t> et. al., 2010, </a:t>
            </a:r>
            <a:r>
              <a:rPr lang="en-US" dirty="0"/>
              <a:t>Wang </a:t>
            </a:r>
            <a:r>
              <a:rPr lang="en-US" i="1" dirty="0"/>
              <a:t>et. al., </a:t>
            </a:r>
            <a:r>
              <a:rPr lang="en-US" dirty="0"/>
              <a:t>2016)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74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5F7FC-65DC-D950-8BCD-40E2678F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Mendelian Randomization</a:t>
            </a:r>
          </a:p>
        </p:txBody>
      </p:sp>
      <p:sp>
        <p:nvSpPr>
          <p:cNvPr id="7" name="AutoShape 8" descr="figure 1">
            <a:extLst>
              <a:ext uri="{FF2B5EF4-FFF2-40B4-BE49-F238E27FC236}">
                <a16:creationId xmlns:a16="http://schemas.microsoft.com/office/drawing/2014/main" id="{A1EF5DAA-A64F-8FEF-50AF-A42CC4D4E2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Content Placeholder 12" descr="A diagram of a test&#10;&#10;AI-generated content may be incorrect.">
            <a:extLst>
              <a:ext uri="{FF2B5EF4-FFF2-40B4-BE49-F238E27FC236}">
                <a16:creationId xmlns:a16="http://schemas.microsoft.com/office/drawing/2014/main" id="{49445B3F-20A8-2E7D-1640-7F72C15DE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460031" y="1825625"/>
            <a:ext cx="727193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12" descr="Fig. 1">
            <a:extLst>
              <a:ext uri="{FF2B5EF4-FFF2-40B4-BE49-F238E27FC236}">
                <a16:creationId xmlns:a16="http://schemas.microsoft.com/office/drawing/2014/main" id="{81C5EC10-6592-C240-9D7D-3357FDC78E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4" descr="Fig. 1">
            <a:extLst>
              <a:ext uri="{FF2B5EF4-FFF2-40B4-BE49-F238E27FC236}">
                <a16:creationId xmlns:a16="http://schemas.microsoft.com/office/drawing/2014/main" id="{DFFE1E88-C013-1891-E7E4-FDA9423C29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6" descr="Fig. 1">
            <a:extLst>
              <a:ext uri="{FF2B5EF4-FFF2-40B4-BE49-F238E27FC236}">
                <a16:creationId xmlns:a16="http://schemas.microsoft.com/office/drawing/2014/main" id="{08E773C8-A948-4FA3-17CD-641234458C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25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AEA87-1782-7BB7-949B-BDB57C2CC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Sample Mendelian Randomization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9DFA8-FC97-4B11-E482-56ADE7AAB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51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7019-D630-7A46-9FAF-93C5128E5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a 2-step MR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5608F-9B6F-B97A-67B0-97F16C4575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Identify an exposure dataset</a:t>
            </a:r>
          </a:p>
          <a:p>
            <a:pPr lvl="1"/>
            <a:r>
              <a:rPr lang="en-US" dirty="0"/>
              <a:t>SNPs that associate with the exposure</a:t>
            </a:r>
          </a:p>
          <a:p>
            <a:r>
              <a:rPr lang="en-US" dirty="0"/>
              <a:t>Identify an outcome dataset</a:t>
            </a:r>
          </a:p>
          <a:p>
            <a:pPr lvl="1"/>
            <a:r>
              <a:rPr lang="en-US" dirty="0"/>
              <a:t>SNPs that associate with the outcome</a:t>
            </a:r>
          </a:p>
          <a:p>
            <a:pPr lvl="1"/>
            <a:r>
              <a:rPr lang="en-US" dirty="0"/>
              <a:t>Outcome should be similar ancestry but different participants</a:t>
            </a:r>
          </a:p>
          <a:p>
            <a:r>
              <a:rPr lang="en-US" dirty="0"/>
              <a:t>Harmonize SNPs</a:t>
            </a:r>
          </a:p>
          <a:p>
            <a:pPr lvl="1"/>
            <a:r>
              <a:rPr lang="en-US" dirty="0"/>
              <a:t>Clump SNPs in linkage dis-</a:t>
            </a:r>
            <a:r>
              <a:rPr lang="en-US" dirty="0" err="1"/>
              <a:t>equillibruim</a:t>
            </a:r>
            <a:endParaRPr lang="en-US" dirty="0"/>
          </a:p>
          <a:p>
            <a:pPr lvl="1"/>
            <a:r>
              <a:rPr lang="en-US" dirty="0"/>
              <a:t>Must be common (&gt;1%)</a:t>
            </a:r>
          </a:p>
          <a:p>
            <a:pPr lvl="1"/>
            <a:r>
              <a:rPr lang="en-US" dirty="0"/>
              <a:t>Must exist in both datasets</a:t>
            </a:r>
          </a:p>
          <a:p>
            <a:pPr lvl="1"/>
            <a:r>
              <a:rPr lang="en-US" dirty="0"/>
              <a:t>Must associate more strongly with exposure than the outcome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C95A38-0D84-3430-21FF-4DF3BF53A2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62857" y="1825625"/>
            <a:ext cx="4800285" cy="4351338"/>
          </a:xfrm>
        </p:spPr>
      </p:pic>
    </p:spTree>
    <p:extLst>
      <p:ext uri="{BB962C8B-B14F-4D97-AF65-F5344CB8AC3E}">
        <p14:creationId xmlns:p14="http://schemas.microsoft.com/office/powerpoint/2010/main" val="2974009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83D56-43DA-4CC8-FFC2-1D421921B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C07B5-6496-98F8-7F06-855842AA01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Weak instrument bias</a:t>
            </a:r>
          </a:p>
          <a:p>
            <a:r>
              <a:rPr lang="en-US" dirty="0"/>
              <a:t>Heterogeneity</a:t>
            </a:r>
          </a:p>
          <a:p>
            <a:r>
              <a:rPr lang="en-US" dirty="0"/>
              <a:t>Horizontal Pleiotropy</a:t>
            </a:r>
          </a:p>
          <a:p>
            <a:pPr lvl="1"/>
            <a:r>
              <a:rPr lang="en-US" dirty="0"/>
              <a:t>Correlated</a:t>
            </a:r>
          </a:p>
          <a:p>
            <a:pPr lvl="1"/>
            <a:r>
              <a:rPr lang="en-US" dirty="0"/>
              <a:t>Uncorrelated</a:t>
            </a:r>
          </a:p>
          <a:p>
            <a:r>
              <a:rPr lang="en-US" dirty="0"/>
              <a:t>Association Driven by a Small Number of Influential SNPs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DBE089-DDD7-AEB2-3FAA-4A5A1D81F8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0650" y="2312194"/>
            <a:ext cx="45847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63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23B5-01D2-030E-F22A-F2F00E1A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A4C40-E8C0-89BC-8143-C028F0F334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81B90-477F-FF78-D87E-707DA470F1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83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E8F5-1F83-E1B7-9AA0-BB910048B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Correlated and Uncorrelated Pleiotropy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0F1E3F6-AEEB-F0B5-AC1F-D007401AC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368" y="2030845"/>
            <a:ext cx="4406900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5B5AD9-8FAA-DC96-06B8-D55A306EE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368" y="3976947"/>
            <a:ext cx="4076700" cy="1143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FFDC46-7F17-E590-61C6-8FDAF6A4F1E5}"/>
              </a:ext>
            </a:extLst>
          </p:cNvPr>
          <p:cNvSpPr txBox="1"/>
          <p:nvPr/>
        </p:nvSpPr>
        <p:spPr>
          <a:xfrm>
            <a:off x="7607877" y="6080067"/>
            <a:ext cx="4461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Jean Morrison, UMSPH</a:t>
            </a:r>
          </a:p>
          <a:p>
            <a:r>
              <a:rPr lang="en-US" dirty="0"/>
              <a:t>https://jean997.github.io/cause/</a:t>
            </a:r>
            <a:r>
              <a:rPr lang="en-US" dirty="0" err="1"/>
              <a:t>index.html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E66127-B2D9-3C89-103B-8EEFD22145D1}"/>
              </a:ext>
            </a:extLst>
          </p:cNvPr>
          <p:cNvSpPr txBox="1"/>
          <p:nvPr/>
        </p:nvSpPr>
        <p:spPr>
          <a:xfrm>
            <a:off x="2697480" y="3429000"/>
            <a:ext cx="1495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Uncorrelated</a:t>
            </a:r>
          </a:p>
          <a:p>
            <a:r>
              <a:rPr lang="en-US" dirty="0"/>
              <a:t>Pleiotropy</a:t>
            </a:r>
          </a:p>
        </p:txBody>
      </p:sp>
      <p:sp>
        <p:nvSpPr>
          <p:cNvPr id="11" name="AutoShape 4" descr="Fig. 1">
            <a:extLst>
              <a:ext uri="{FF2B5EF4-FFF2-40B4-BE49-F238E27FC236}">
                <a16:creationId xmlns:a16="http://schemas.microsoft.com/office/drawing/2014/main" id="{65A43320-5EB4-86F1-CBE2-F43CD4DC8E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AE68B-5197-847B-B7B4-B78BF01347A0}"/>
              </a:ext>
            </a:extLst>
          </p:cNvPr>
          <p:cNvSpPr txBox="1"/>
          <p:nvPr/>
        </p:nvSpPr>
        <p:spPr>
          <a:xfrm>
            <a:off x="4997673" y="1444300"/>
            <a:ext cx="12507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Correlated</a:t>
            </a:r>
          </a:p>
          <a:p>
            <a:r>
              <a:rPr lang="en-US" dirty="0"/>
              <a:t>Pleiotropy</a:t>
            </a:r>
          </a:p>
        </p:txBody>
      </p:sp>
      <p:sp>
        <p:nvSpPr>
          <p:cNvPr id="13" name="AutoShape 4" descr="Fig. 1">
            <a:extLst>
              <a:ext uri="{FF2B5EF4-FFF2-40B4-BE49-F238E27FC236}">
                <a16:creationId xmlns:a16="http://schemas.microsoft.com/office/drawing/2014/main" id="{B38D2661-F47F-281D-81DE-A81562A7B0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98533" y="128072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44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D01A-BFE7-08A1-5A84-CDA86F4E6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056C1-AD05-EF4E-7430-CC0322263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97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E970E-2DFC-8F1D-0EC2-759D88FE0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of co-</a:t>
            </a:r>
            <a:r>
              <a:rPr lang="en-US" dirty="0" err="1"/>
              <a:t>rmorbid</a:t>
            </a:r>
            <a:r>
              <a:rPr lang="en-US" dirty="0"/>
              <a:t> increases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DACDE-A2BA-5912-6E35-544C23AF9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Individuals with osteoporosis have a &gt; 4 fold increased risk of myocardial infarction, and a &gt; 3.5x increased risk of stroke</a:t>
            </a:r>
            <a:r>
              <a:rPr lang="en-US" i="1" dirty="0"/>
              <a:t> (</a:t>
            </a:r>
            <a:r>
              <a:rPr lang="en-US" i="1" dirty="0" err="1"/>
              <a:t>Renjithlal</a:t>
            </a:r>
            <a:r>
              <a:rPr lang="en-US" i="1" dirty="0"/>
              <a:t> et al., 2022).</a:t>
            </a:r>
          </a:p>
          <a:p>
            <a:r>
              <a:rPr lang="en-US" dirty="0"/>
              <a:t>Elevated serum calcium was associated with increased risk of both arterial calcification and coronary artery disease (</a:t>
            </a:r>
            <a:r>
              <a:rPr lang="en-US" i="1" dirty="0"/>
              <a:t>Jorde et. al., 1999, Foley et. al., 2008</a:t>
            </a:r>
            <a:r>
              <a:rPr lang="en-US" dirty="0"/>
              <a:t>) .</a:t>
            </a:r>
          </a:p>
          <a:p>
            <a:r>
              <a:rPr lang="en-US" dirty="0"/>
              <a:t>MR shows genetically encoded calcium increases risk of CAD or myocardial infarction by 24-25% (Larssen </a:t>
            </a:r>
            <a:r>
              <a:rPr lang="en-US" i="1" dirty="0"/>
              <a:t>et. al., </a:t>
            </a:r>
            <a:r>
              <a:rPr lang="en-US" dirty="0"/>
              <a:t>2017).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917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507</Words>
  <Application>Microsoft Macintosh PowerPoint</Application>
  <PresentationFormat>Widescreen</PresentationFormat>
  <Paragraphs>74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Calcium-Cholesterol Project</vt:lpstr>
      <vt:lpstr>Diversity Outbred Mice</vt:lpstr>
      <vt:lpstr>Effects of Diet and Sex on Cholesterol Levels</vt:lpstr>
      <vt:lpstr>Cholesterol and Triglycerides Levels Correlate</vt:lpstr>
      <vt:lpstr>a priori predictors of high cholesterol in mice</vt:lpstr>
      <vt:lpstr>Calcium is Associated with Cholesterol</vt:lpstr>
      <vt:lpstr>This positive association is also found in humans</vt:lpstr>
      <vt:lpstr>Follow-up Questions</vt:lpstr>
      <vt:lpstr>Assessing Directionality (Ongoing)</vt:lpstr>
      <vt:lpstr>Bone demineralization and osteoporosis</vt:lpstr>
      <vt:lpstr>Cholesterol and Bone Demineralization are Co-morbid</vt:lpstr>
      <vt:lpstr>Mendelian Randomization</vt:lpstr>
      <vt:lpstr>Two Sample Mendelian Randomization</vt:lpstr>
      <vt:lpstr>Steps to a 2-step MR</vt:lpstr>
      <vt:lpstr>Caveats</vt:lpstr>
      <vt:lpstr>PowerPoint Presentation</vt:lpstr>
      <vt:lpstr>Correlated and Uncorrelated Pleiotropy</vt:lpstr>
      <vt:lpstr>Biological Mechanism</vt:lpstr>
      <vt:lpstr>Relevance of co-rmorbid increases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Bridges</dc:creator>
  <cp:lastModifiedBy>Dave Bridges</cp:lastModifiedBy>
  <cp:revision>7</cp:revision>
  <dcterms:created xsi:type="dcterms:W3CDTF">2025-11-25T15:13:33Z</dcterms:created>
  <dcterms:modified xsi:type="dcterms:W3CDTF">2025-11-26T14:22:18Z</dcterms:modified>
</cp:coreProperties>
</file>
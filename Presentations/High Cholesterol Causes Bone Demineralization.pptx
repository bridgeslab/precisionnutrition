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71" r:id="rId5"/>
    <p:sldId id="259" r:id="rId6"/>
    <p:sldId id="260" r:id="rId7"/>
    <p:sldId id="266" r:id="rId8"/>
    <p:sldId id="261" r:id="rId9"/>
    <p:sldId id="262" r:id="rId10"/>
    <p:sldId id="264" r:id="rId11"/>
    <p:sldId id="263" r:id="rId12"/>
    <p:sldId id="267" r:id="rId13"/>
    <p:sldId id="268" r:id="rId14"/>
    <p:sldId id="269" r:id="rId15"/>
    <p:sldId id="278" r:id="rId16"/>
    <p:sldId id="272" r:id="rId17"/>
    <p:sldId id="277" r:id="rId18"/>
    <p:sldId id="276" r:id="rId19"/>
    <p:sldId id="279" r:id="rId20"/>
    <p:sldId id="281" r:id="rId21"/>
    <p:sldId id="280" r:id="rId22"/>
    <p:sldId id="275" r:id="rId23"/>
    <p:sldId id="270" r:id="rId24"/>
    <p:sldId id="282" r:id="rId25"/>
    <p:sldId id="265" r:id="rId26"/>
    <p:sldId id="283"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642"/>
    <p:restoredTop sz="94597"/>
  </p:normalViewPr>
  <p:slideViewPr>
    <p:cSldViewPr snapToGrid="0">
      <p:cViewPr varScale="1">
        <p:scale>
          <a:sx n="114" d="100"/>
          <a:sy n="114" d="100"/>
        </p:scale>
        <p:origin x="472"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08C933-9906-B84E-BA8B-4DB7027499CD}" type="datetimeFigureOut">
              <a:rPr lang="en-US" smtClean="0"/>
              <a:t>12/4/25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421778-832C-8F47-85C4-75A399DBD491}" type="slidenum">
              <a:rPr lang="en-US" smtClean="0"/>
              <a:t>‹#›</a:t>
            </a:fld>
            <a:endParaRPr lang="en-US"/>
          </a:p>
        </p:txBody>
      </p:sp>
    </p:spTree>
    <p:extLst>
      <p:ext uri="{BB962C8B-B14F-4D97-AF65-F5344CB8AC3E}">
        <p14:creationId xmlns:p14="http://schemas.microsoft.com/office/powerpoint/2010/main" val="13042819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 – all variants have the same effects (variance is sampling error)</a:t>
            </a:r>
            <a:br>
              <a:rPr lang="en-US" dirty="0"/>
            </a:br>
            <a:r>
              <a:rPr lang="en-US" dirty="0"/>
              <a:t>MRE – variants have nonidentical errors</a:t>
            </a:r>
          </a:p>
        </p:txBody>
      </p:sp>
      <p:sp>
        <p:nvSpPr>
          <p:cNvPr id="4" name="Slide Number Placeholder 3"/>
          <p:cNvSpPr>
            <a:spLocks noGrp="1"/>
          </p:cNvSpPr>
          <p:nvPr>
            <p:ph type="sldNum" sz="quarter" idx="5"/>
          </p:nvPr>
        </p:nvSpPr>
        <p:spPr/>
        <p:txBody>
          <a:bodyPr/>
          <a:lstStyle/>
          <a:p>
            <a:fld id="{BD421778-832C-8F47-85C4-75A399DBD491}" type="slidenum">
              <a:rPr lang="en-US" smtClean="0"/>
              <a:t>17</a:t>
            </a:fld>
            <a:endParaRPr lang="en-US"/>
          </a:p>
        </p:txBody>
      </p:sp>
    </p:spTree>
    <p:extLst>
      <p:ext uri="{BB962C8B-B14F-4D97-AF65-F5344CB8AC3E}">
        <p14:creationId xmlns:p14="http://schemas.microsoft.com/office/powerpoint/2010/main" val="9791557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err="1">
                <a:solidFill>
                  <a:schemeClr val="tx1"/>
                </a:solidFill>
                <a:effectLst/>
                <a:latin typeface="+mn-lt"/>
                <a:ea typeface="+mn-ea"/>
                <a:cs typeface="+mn-cs"/>
              </a:rPr>
              <a:t>GEnetic</a:t>
            </a:r>
            <a:r>
              <a:rPr lang="en-US" sz="1200" b="0" i="0" kern="1200" dirty="0">
                <a:solidFill>
                  <a:schemeClr val="tx1"/>
                </a:solidFill>
                <a:effectLst/>
                <a:latin typeface="+mn-lt"/>
                <a:ea typeface="+mn-ea"/>
                <a:cs typeface="+mn-cs"/>
              </a:rPr>
              <a:t> Factors for </a:t>
            </a:r>
            <a:r>
              <a:rPr lang="en-US" sz="1200" b="0" i="0" kern="1200" dirty="0" err="1">
                <a:solidFill>
                  <a:schemeClr val="tx1"/>
                </a:solidFill>
                <a:effectLst/>
                <a:latin typeface="+mn-lt"/>
                <a:ea typeface="+mn-ea"/>
                <a:cs typeface="+mn-cs"/>
              </a:rPr>
              <a:t>OSteoporosis</a:t>
            </a:r>
            <a:r>
              <a:rPr lang="en-US" sz="1200" b="0" i="0" kern="1200" dirty="0">
                <a:solidFill>
                  <a:schemeClr val="tx1"/>
                </a:solidFill>
                <a:effectLst/>
                <a:latin typeface="+mn-lt"/>
                <a:ea typeface="+mn-ea"/>
                <a:cs typeface="+mn-cs"/>
              </a:rPr>
              <a:t> Consortium</a:t>
            </a:r>
            <a:endParaRPr lang="en-US" dirty="0"/>
          </a:p>
        </p:txBody>
      </p:sp>
      <p:sp>
        <p:nvSpPr>
          <p:cNvPr id="4" name="Slide Number Placeholder 3"/>
          <p:cNvSpPr>
            <a:spLocks noGrp="1"/>
          </p:cNvSpPr>
          <p:nvPr>
            <p:ph type="sldNum" sz="quarter" idx="5"/>
          </p:nvPr>
        </p:nvSpPr>
        <p:spPr/>
        <p:txBody>
          <a:bodyPr/>
          <a:lstStyle/>
          <a:p>
            <a:fld id="{BD421778-832C-8F47-85C4-75A399DBD491}" type="slidenum">
              <a:rPr lang="en-US" smtClean="0"/>
              <a:t>23</a:t>
            </a:fld>
            <a:endParaRPr lang="en-US"/>
          </a:p>
        </p:txBody>
      </p:sp>
    </p:spTree>
    <p:extLst>
      <p:ext uri="{BB962C8B-B14F-4D97-AF65-F5344CB8AC3E}">
        <p14:creationId xmlns:p14="http://schemas.microsoft.com/office/powerpoint/2010/main" val="29329364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7F5F8-3AF5-9B4C-A740-39AFCFE0EFE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BF80266-09D0-08C0-C558-EAB3F3FE60A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1350EC9-24BE-5A10-BBF3-26099C1C8768}"/>
              </a:ext>
            </a:extLst>
          </p:cNvPr>
          <p:cNvSpPr>
            <a:spLocks noGrp="1"/>
          </p:cNvSpPr>
          <p:nvPr>
            <p:ph type="dt" sz="half" idx="10"/>
          </p:nvPr>
        </p:nvSpPr>
        <p:spPr/>
        <p:txBody>
          <a:bodyPr/>
          <a:lstStyle/>
          <a:p>
            <a:fld id="{867AE478-D44E-FE42-B366-E8DE952D93E4}" type="datetimeFigureOut">
              <a:rPr lang="en-US" smtClean="0"/>
              <a:t>12/4/25</a:t>
            </a:fld>
            <a:endParaRPr lang="en-US"/>
          </a:p>
        </p:txBody>
      </p:sp>
      <p:sp>
        <p:nvSpPr>
          <p:cNvPr id="5" name="Footer Placeholder 4">
            <a:extLst>
              <a:ext uri="{FF2B5EF4-FFF2-40B4-BE49-F238E27FC236}">
                <a16:creationId xmlns:a16="http://schemas.microsoft.com/office/drawing/2014/main" id="{C8865475-CDE1-A4AE-4648-C2E05FCB02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241136-86C2-E28C-0750-FB75C6E04D6A}"/>
              </a:ext>
            </a:extLst>
          </p:cNvPr>
          <p:cNvSpPr>
            <a:spLocks noGrp="1"/>
          </p:cNvSpPr>
          <p:nvPr>
            <p:ph type="sldNum" sz="quarter" idx="12"/>
          </p:nvPr>
        </p:nvSpPr>
        <p:spPr/>
        <p:txBody>
          <a:bodyPr/>
          <a:lstStyle/>
          <a:p>
            <a:fld id="{C3FA77D1-FD2F-0540-B7AA-E1CD39E3A511}" type="slidenum">
              <a:rPr lang="en-US" smtClean="0"/>
              <a:t>‹#›</a:t>
            </a:fld>
            <a:endParaRPr lang="en-US"/>
          </a:p>
        </p:txBody>
      </p:sp>
    </p:spTree>
    <p:extLst>
      <p:ext uri="{BB962C8B-B14F-4D97-AF65-F5344CB8AC3E}">
        <p14:creationId xmlns:p14="http://schemas.microsoft.com/office/powerpoint/2010/main" val="18081766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19789-715C-FCAE-EDEA-3254110126A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672B123-2AEF-DACB-EC0D-856CAC5386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CA20C9D-6FDD-5E24-2D7A-56D6CC23F3A1}"/>
              </a:ext>
            </a:extLst>
          </p:cNvPr>
          <p:cNvSpPr>
            <a:spLocks noGrp="1"/>
          </p:cNvSpPr>
          <p:nvPr>
            <p:ph type="dt" sz="half" idx="10"/>
          </p:nvPr>
        </p:nvSpPr>
        <p:spPr/>
        <p:txBody>
          <a:bodyPr/>
          <a:lstStyle/>
          <a:p>
            <a:fld id="{867AE478-D44E-FE42-B366-E8DE952D93E4}" type="datetimeFigureOut">
              <a:rPr lang="en-US" smtClean="0"/>
              <a:t>12/4/25</a:t>
            </a:fld>
            <a:endParaRPr lang="en-US"/>
          </a:p>
        </p:txBody>
      </p:sp>
      <p:sp>
        <p:nvSpPr>
          <p:cNvPr id="5" name="Footer Placeholder 4">
            <a:extLst>
              <a:ext uri="{FF2B5EF4-FFF2-40B4-BE49-F238E27FC236}">
                <a16:creationId xmlns:a16="http://schemas.microsoft.com/office/drawing/2014/main" id="{A1543D37-61E7-3A53-C36A-1A1257F7BB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58E9C3-38C3-BB88-D52B-450E50FE1765}"/>
              </a:ext>
            </a:extLst>
          </p:cNvPr>
          <p:cNvSpPr>
            <a:spLocks noGrp="1"/>
          </p:cNvSpPr>
          <p:nvPr>
            <p:ph type="sldNum" sz="quarter" idx="12"/>
          </p:nvPr>
        </p:nvSpPr>
        <p:spPr/>
        <p:txBody>
          <a:bodyPr/>
          <a:lstStyle/>
          <a:p>
            <a:fld id="{C3FA77D1-FD2F-0540-B7AA-E1CD39E3A511}" type="slidenum">
              <a:rPr lang="en-US" smtClean="0"/>
              <a:t>‹#›</a:t>
            </a:fld>
            <a:endParaRPr lang="en-US"/>
          </a:p>
        </p:txBody>
      </p:sp>
    </p:spTree>
    <p:extLst>
      <p:ext uri="{BB962C8B-B14F-4D97-AF65-F5344CB8AC3E}">
        <p14:creationId xmlns:p14="http://schemas.microsoft.com/office/powerpoint/2010/main" val="30526119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58238-0752-8AD9-021C-E5F5FB9036F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F8E0D11-23D5-4FEF-FF62-34225F0582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69BCFF1-5E45-98D2-A70E-00ED622E4A99}"/>
              </a:ext>
            </a:extLst>
          </p:cNvPr>
          <p:cNvSpPr>
            <a:spLocks noGrp="1"/>
          </p:cNvSpPr>
          <p:nvPr>
            <p:ph type="dt" sz="half" idx="10"/>
          </p:nvPr>
        </p:nvSpPr>
        <p:spPr/>
        <p:txBody>
          <a:bodyPr/>
          <a:lstStyle/>
          <a:p>
            <a:fld id="{867AE478-D44E-FE42-B366-E8DE952D93E4}" type="datetimeFigureOut">
              <a:rPr lang="en-US" smtClean="0"/>
              <a:t>12/4/25</a:t>
            </a:fld>
            <a:endParaRPr lang="en-US"/>
          </a:p>
        </p:txBody>
      </p:sp>
      <p:sp>
        <p:nvSpPr>
          <p:cNvPr id="5" name="Footer Placeholder 4">
            <a:extLst>
              <a:ext uri="{FF2B5EF4-FFF2-40B4-BE49-F238E27FC236}">
                <a16:creationId xmlns:a16="http://schemas.microsoft.com/office/drawing/2014/main" id="{27732EB8-AC9C-C2AA-53FF-EB96A27934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9EF5D4-82AB-9DA1-DBC1-40CEA46DFFAC}"/>
              </a:ext>
            </a:extLst>
          </p:cNvPr>
          <p:cNvSpPr>
            <a:spLocks noGrp="1"/>
          </p:cNvSpPr>
          <p:nvPr>
            <p:ph type="sldNum" sz="quarter" idx="12"/>
          </p:nvPr>
        </p:nvSpPr>
        <p:spPr/>
        <p:txBody>
          <a:bodyPr/>
          <a:lstStyle/>
          <a:p>
            <a:fld id="{C3FA77D1-FD2F-0540-B7AA-E1CD39E3A511}" type="slidenum">
              <a:rPr lang="en-US" smtClean="0"/>
              <a:t>‹#›</a:t>
            </a:fld>
            <a:endParaRPr lang="en-US"/>
          </a:p>
        </p:txBody>
      </p:sp>
    </p:spTree>
    <p:extLst>
      <p:ext uri="{BB962C8B-B14F-4D97-AF65-F5344CB8AC3E}">
        <p14:creationId xmlns:p14="http://schemas.microsoft.com/office/powerpoint/2010/main" val="43317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2219C-B26E-1228-57F0-984F7604CC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F13DECE-5B65-9B09-103B-35CF4EC825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DC87E35-D61C-6367-CC9D-07F7528F10C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1164678-BA2E-CCDA-9BC1-FF2D8652D321}"/>
              </a:ext>
            </a:extLst>
          </p:cNvPr>
          <p:cNvSpPr>
            <a:spLocks noGrp="1"/>
          </p:cNvSpPr>
          <p:nvPr>
            <p:ph type="dt" sz="half" idx="10"/>
          </p:nvPr>
        </p:nvSpPr>
        <p:spPr/>
        <p:txBody>
          <a:bodyPr/>
          <a:lstStyle/>
          <a:p>
            <a:fld id="{867AE478-D44E-FE42-B366-E8DE952D93E4}" type="datetimeFigureOut">
              <a:rPr lang="en-US" smtClean="0"/>
              <a:t>12/4/25</a:t>
            </a:fld>
            <a:endParaRPr lang="en-US"/>
          </a:p>
        </p:txBody>
      </p:sp>
      <p:sp>
        <p:nvSpPr>
          <p:cNvPr id="6" name="Footer Placeholder 5">
            <a:extLst>
              <a:ext uri="{FF2B5EF4-FFF2-40B4-BE49-F238E27FC236}">
                <a16:creationId xmlns:a16="http://schemas.microsoft.com/office/drawing/2014/main" id="{388342AD-9AD0-BFED-600D-898D0ABEA5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AC1CC1-B1C7-490A-4391-070AADA686BC}"/>
              </a:ext>
            </a:extLst>
          </p:cNvPr>
          <p:cNvSpPr>
            <a:spLocks noGrp="1"/>
          </p:cNvSpPr>
          <p:nvPr>
            <p:ph type="sldNum" sz="quarter" idx="12"/>
          </p:nvPr>
        </p:nvSpPr>
        <p:spPr/>
        <p:txBody>
          <a:bodyPr/>
          <a:lstStyle/>
          <a:p>
            <a:fld id="{C3FA77D1-FD2F-0540-B7AA-E1CD39E3A511}" type="slidenum">
              <a:rPr lang="en-US" smtClean="0"/>
              <a:t>‹#›</a:t>
            </a:fld>
            <a:endParaRPr lang="en-US"/>
          </a:p>
        </p:txBody>
      </p:sp>
    </p:spTree>
    <p:extLst>
      <p:ext uri="{BB962C8B-B14F-4D97-AF65-F5344CB8AC3E}">
        <p14:creationId xmlns:p14="http://schemas.microsoft.com/office/powerpoint/2010/main" val="14789469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91D9E-5ACB-2FA9-B618-8D35F8DC870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138737B-69AF-9CA5-1A28-C1F662339A1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BF863FD-0E4F-886D-A871-7BFCA03DD51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EF49878-5CA1-6E23-1A54-4EAAB84545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02DED75-BC02-6C82-4676-576265F582F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D0F45FE-ECBD-A5BC-453A-CDBB6B467B11}"/>
              </a:ext>
            </a:extLst>
          </p:cNvPr>
          <p:cNvSpPr>
            <a:spLocks noGrp="1"/>
          </p:cNvSpPr>
          <p:nvPr>
            <p:ph type="dt" sz="half" idx="10"/>
          </p:nvPr>
        </p:nvSpPr>
        <p:spPr/>
        <p:txBody>
          <a:bodyPr/>
          <a:lstStyle/>
          <a:p>
            <a:fld id="{867AE478-D44E-FE42-B366-E8DE952D93E4}" type="datetimeFigureOut">
              <a:rPr lang="en-US" smtClean="0"/>
              <a:t>12/4/25</a:t>
            </a:fld>
            <a:endParaRPr lang="en-US"/>
          </a:p>
        </p:txBody>
      </p:sp>
      <p:sp>
        <p:nvSpPr>
          <p:cNvPr id="8" name="Footer Placeholder 7">
            <a:extLst>
              <a:ext uri="{FF2B5EF4-FFF2-40B4-BE49-F238E27FC236}">
                <a16:creationId xmlns:a16="http://schemas.microsoft.com/office/drawing/2014/main" id="{59D9FE7F-8246-A213-846E-151888A64B6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D73C12E-918C-5FA0-9C9E-478DB2EB2D88}"/>
              </a:ext>
            </a:extLst>
          </p:cNvPr>
          <p:cNvSpPr>
            <a:spLocks noGrp="1"/>
          </p:cNvSpPr>
          <p:nvPr>
            <p:ph type="sldNum" sz="quarter" idx="12"/>
          </p:nvPr>
        </p:nvSpPr>
        <p:spPr/>
        <p:txBody>
          <a:bodyPr/>
          <a:lstStyle/>
          <a:p>
            <a:fld id="{C3FA77D1-FD2F-0540-B7AA-E1CD39E3A511}" type="slidenum">
              <a:rPr lang="en-US" smtClean="0"/>
              <a:t>‹#›</a:t>
            </a:fld>
            <a:endParaRPr lang="en-US"/>
          </a:p>
        </p:txBody>
      </p:sp>
    </p:spTree>
    <p:extLst>
      <p:ext uri="{BB962C8B-B14F-4D97-AF65-F5344CB8AC3E}">
        <p14:creationId xmlns:p14="http://schemas.microsoft.com/office/powerpoint/2010/main" val="22283030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04C42-5F81-7EEC-A820-667AD256943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292AC61-298D-8489-CA66-FDF5F899E021}"/>
              </a:ext>
            </a:extLst>
          </p:cNvPr>
          <p:cNvSpPr>
            <a:spLocks noGrp="1"/>
          </p:cNvSpPr>
          <p:nvPr>
            <p:ph type="dt" sz="half" idx="10"/>
          </p:nvPr>
        </p:nvSpPr>
        <p:spPr/>
        <p:txBody>
          <a:bodyPr/>
          <a:lstStyle/>
          <a:p>
            <a:fld id="{867AE478-D44E-FE42-B366-E8DE952D93E4}" type="datetimeFigureOut">
              <a:rPr lang="en-US" smtClean="0"/>
              <a:t>12/4/25</a:t>
            </a:fld>
            <a:endParaRPr lang="en-US"/>
          </a:p>
        </p:txBody>
      </p:sp>
      <p:sp>
        <p:nvSpPr>
          <p:cNvPr id="4" name="Footer Placeholder 3">
            <a:extLst>
              <a:ext uri="{FF2B5EF4-FFF2-40B4-BE49-F238E27FC236}">
                <a16:creationId xmlns:a16="http://schemas.microsoft.com/office/drawing/2014/main" id="{A437AAF1-614D-3AA0-A6D5-342756224A2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36F1E09-8636-937F-D615-9EFFF18697E8}"/>
              </a:ext>
            </a:extLst>
          </p:cNvPr>
          <p:cNvSpPr>
            <a:spLocks noGrp="1"/>
          </p:cNvSpPr>
          <p:nvPr>
            <p:ph type="sldNum" sz="quarter" idx="12"/>
          </p:nvPr>
        </p:nvSpPr>
        <p:spPr/>
        <p:txBody>
          <a:bodyPr/>
          <a:lstStyle/>
          <a:p>
            <a:fld id="{C3FA77D1-FD2F-0540-B7AA-E1CD39E3A511}" type="slidenum">
              <a:rPr lang="en-US" smtClean="0"/>
              <a:t>‹#›</a:t>
            </a:fld>
            <a:endParaRPr lang="en-US"/>
          </a:p>
        </p:txBody>
      </p:sp>
    </p:spTree>
    <p:extLst>
      <p:ext uri="{BB962C8B-B14F-4D97-AF65-F5344CB8AC3E}">
        <p14:creationId xmlns:p14="http://schemas.microsoft.com/office/powerpoint/2010/main" val="3280756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7585C63-7207-467C-7B57-0B99379E371B}"/>
              </a:ext>
            </a:extLst>
          </p:cNvPr>
          <p:cNvSpPr>
            <a:spLocks noGrp="1"/>
          </p:cNvSpPr>
          <p:nvPr>
            <p:ph type="dt" sz="half" idx="10"/>
          </p:nvPr>
        </p:nvSpPr>
        <p:spPr/>
        <p:txBody>
          <a:bodyPr/>
          <a:lstStyle/>
          <a:p>
            <a:fld id="{867AE478-D44E-FE42-B366-E8DE952D93E4}" type="datetimeFigureOut">
              <a:rPr lang="en-US" smtClean="0"/>
              <a:t>12/4/25</a:t>
            </a:fld>
            <a:endParaRPr lang="en-US"/>
          </a:p>
        </p:txBody>
      </p:sp>
      <p:sp>
        <p:nvSpPr>
          <p:cNvPr id="3" name="Footer Placeholder 2">
            <a:extLst>
              <a:ext uri="{FF2B5EF4-FFF2-40B4-BE49-F238E27FC236}">
                <a16:creationId xmlns:a16="http://schemas.microsoft.com/office/drawing/2014/main" id="{2EEBF159-5D1E-AF1C-1707-2A4CC42F19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CCEDC8C-8965-A189-46B7-3EDD18A432FE}"/>
              </a:ext>
            </a:extLst>
          </p:cNvPr>
          <p:cNvSpPr>
            <a:spLocks noGrp="1"/>
          </p:cNvSpPr>
          <p:nvPr>
            <p:ph type="sldNum" sz="quarter" idx="12"/>
          </p:nvPr>
        </p:nvSpPr>
        <p:spPr/>
        <p:txBody>
          <a:bodyPr/>
          <a:lstStyle/>
          <a:p>
            <a:fld id="{C3FA77D1-FD2F-0540-B7AA-E1CD39E3A511}" type="slidenum">
              <a:rPr lang="en-US" smtClean="0"/>
              <a:t>‹#›</a:t>
            </a:fld>
            <a:endParaRPr lang="en-US"/>
          </a:p>
        </p:txBody>
      </p:sp>
    </p:spTree>
    <p:extLst>
      <p:ext uri="{BB962C8B-B14F-4D97-AF65-F5344CB8AC3E}">
        <p14:creationId xmlns:p14="http://schemas.microsoft.com/office/powerpoint/2010/main" val="6247532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EAAA8F-3467-DE9D-AB85-743E68CFE99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CE138ED-2077-D1C7-1EBC-45AB6DA0C4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2DB984A-94BF-5FE1-227E-6A38D4078C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440565-0D5C-334B-394F-96877E77D979}"/>
              </a:ext>
            </a:extLst>
          </p:cNvPr>
          <p:cNvSpPr>
            <a:spLocks noGrp="1"/>
          </p:cNvSpPr>
          <p:nvPr>
            <p:ph type="dt" sz="half" idx="10"/>
          </p:nvPr>
        </p:nvSpPr>
        <p:spPr/>
        <p:txBody>
          <a:bodyPr/>
          <a:lstStyle/>
          <a:p>
            <a:fld id="{867AE478-D44E-FE42-B366-E8DE952D93E4}" type="datetimeFigureOut">
              <a:rPr lang="en-US" smtClean="0"/>
              <a:t>12/4/25</a:t>
            </a:fld>
            <a:endParaRPr lang="en-US"/>
          </a:p>
        </p:txBody>
      </p:sp>
      <p:sp>
        <p:nvSpPr>
          <p:cNvPr id="6" name="Footer Placeholder 5">
            <a:extLst>
              <a:ext uri="{FF2B5EF4-FFF2-40B4-BE49-F238E27FC236}">
                <a16:creationId xmlns:a16="http://schemas.microsoft.com/office/drawing/2014/main" id="{59131F93-8245-B4A6-8333-F23EAF0CEA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F7576D-C756-B6D0-CA9D-1026396A3518}"/>
              </a:ext>
            </a:extLst>
          </p:cNvPr>
          <p:cNvSpPr>
            <a:spLocks noGrp="1"/>
          </p:cNvSpPr>
          <p:nvPr>
            <p:ph type="sldNum" sz="quarter" idx="12"/>
          </p:nvPr>
        </p:nvSpPr>
        <p:spPr/>
        <p:txBody>
          <a:bodyPr/>
          <a:lstStyle/>
          <a:p>
            <a:fld id="{C3FA77D1-FD2F-0540-B7AA-E1CD39E3A511}" type="slidenum">
              <a:rPr lang="en-US" smtClean="0"/>
              <a:t>‹#›</a:t>
            </a:fld>
            <a:endParaRPr lang="en-US"/>
          </a:p>
        </p:txBody>
      </p:sp>
    </p:spTree>
    <p:extLst>
      <p:ext uri="{BB962C8B-B14F-4D97-AF65-F5344CB8AC3E}">
        <p14:creationId xmlns:p14="http://schemas.microsoft.com/office/powerpoint/2010/main" val="36290534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87BAA-7F29-F4B8-8669-C04400885F0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C624F67-EEF0-30A6-1858-A7009AF39A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F2FC817-7D48-7C7D-25A4-790F367B0C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D7765B-3983-EFDB-CBE4-A67A448A7A7D}"/>
              </a:ext>
            </a:extLst>
          </p:cNvPr>
          <p:cNvSpPr>
            <a:spLocks noGrp="1"/>
          </p:cNvSpPr>
          <p:nvPr>
            <p:ph type="dt" sz="half" idx="10"/>
          </p:nvPr>
        </p:nvSpPr>
        <p:spPr/>
        <p:txBody>
          <a:bodyPr/>
          <a:lstStyle/>
          <a:p>
            <a:fld id="{867AE478-D44E-FE42-B366-E8DE952D93E4}" type="datetimeFigureOut">
              <a:rPr lang="en-US" smtClean="0"/>
              <a:t>12/4/25</a:t>
            </a:fld>
            <a:endParaRPr lang="en-US"/>
          </a:p>
        </p:txBody>
      </p:sp>
      <p:sp>
        <p:nvSpPr>
          <p:cNvPr id="6" name="Footer Placeholder 5">
            <a:extLst>
              <a:ext uri="{FF2B5EF4-FFF2-40B4-BE49-F238E27FC236}">
                <a16:creationId xmlns:a16="http://schemas.microsoft.com/office/drawing/2014/main" id="{F519483B-2809-C5A6-A5CC-17A8873BCF0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CCC2D7B-89D3-9D10-6188-D8C6042236A5}"/>
              </a:ext>
            </a:extLst>
          </p:cNvPr>
          <p:cNvSpPr>
            <a:spLocks noGrp="1"/>
          </p:cNvSpPr>
          <p:nvPr>
            <p:ph type="sldNum" sz="quarter" idx="12"/>
          </p:nvPr>
        </p:nvSpPr>
        <p:spPr/>
        <p:txBody>
          <a:bodyPr/>
          <a:lstStyle/>
          <a:p>
            <a:fld id="{C3FA77D1-FD2F-0540-B7AA-E1CD39E3A511}" type="slidenum">
              <a:rPr lang="en-US" smtClean="0"/>
              <a:t>‹#›</a:t>
            </a:fld>
            <a:endParaRPr lang="en-US"/>
          </a:p>
        </p:txBody>
      </p:sp>
    </p:spTree>
    <p:extLst>
      <p:ext uri="{BB962C8B-B14F-4D97-AF65-F5344CB8AC3E}">
        <p14:creationId xmlns:p14="http://schemas.microsoft.com/office/powerpoint/2010/main" val="7795133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B897DD-9F0C-AB78-66CD-9B04109E530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191E664-EE92-24B6-F45B-F74C0416982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067977-AFEF-CB95-52F2-8E7F8CC5878D}"/>
              </a:ext>
            </a:extLst>
          </p:cNvPr>
          <p:cNvSpPr>
            <a:spLocks noGrp="1"/>
          </p:cNvSpPr>
          <p:nvPr>
            <p:ph type="dt" sz="half" idx="10"/>
          </p:nvPr>
        </p:nvSpPr>
        <p:spPr/>
        <p:txBody>
          <a:bodyPr/>
          <a:lstStyle/>
          <a:p>
            <a:fld id="{867AE478-D44E-FE42-B366-E8DE952D93E4}" type="datetimeFigureOut">
              <a:rPr lang="en-US" smtClean="0"/>
              <a:t>12/4/25</a:t>
            </a:fld>
            <a:endParaRPr lang="en-US"/>
          </a:p>
        </p:txBody>
      </p:sp>
      <p:sp>
        <p:nvSpPr>
          <p:cNvPr id="5" name="Footer Placeholder 4">
            <a:extLst>
              <a:ext uri="{FF2B5EF4-FFF2-40B4-BE49-F238E27FC236}">
                <a16:creationId xmlns:a16="http://schemas.microsoft.com/office/drawing/2014/main" id="{41E2F207-6755-2669-97E6-EE8A1F0973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209FC6-6A74-294D-0BEC-EA05190A0D5D}"/>
              </a:ext>
            </a:extLst>
          </p:cNvPr>
          <p:cNvSpPr>
            <a:spLocks noGrp="1"/>
          </p:cNvSpPr>
          <p:nvPr>
            <p:ph type="sldNum" sz="quarter" idx="12"/>
          </p:nvPr>
        </p:nvSpPr>
        <p:spPr/>
        <p:txBody>
          <a:bodyPr/>
          <a:lstStyle/>
          <a:p>
            <a:fld id="{C3FA77D1-FD2F-0540-B7AA-E1CD39E3A511}" type="slidenum">
              <a:rPr lang="en-US" smtClean="0"/>
              <a:t>‹#›</a:t>
            </a:fld>
            <a:endParaRPr lang="en-US"/>
          </a:p>
        </p:txBody>
      </p:sp>
    </p:spTree>
    <p:extLst>
      <p:ext uri="{BB962C8B-B14F-4D97-AF65-F5344CB8AC3E}">
        <p14:creationId xmlns:p14="http://schemas.microsoft.com/office/powerpoint/2010/main" val="1455854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39539F4-71BD-214A-1C6E-0C0FCACCC8E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BB81968-EC4B-FAF6-BF46-5E03AD306A0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0F5A02-B378-43CC-2AC6-1BE29A4A6EF1}"/>
              </a:ext>
            </a:extLst>
          </p:cNvPr>
          <p:cNvSpPr>
            <a:spLocks noGrp="1"/>
          </p:cNvSpPr>
          <p:nvPr>
            <p:ph type="dt" sz="half" idx="10"/>
          </p:nvPr>
        </p:nvSpPr>
        <p:spPr/>
        <p:txBody>
          <a:bodyPr/>
          <a:lstStyle/>
          <a:p>
            <a:fld id="{867AE478-D44E-FE42-B366-E8DE952D93E4}" type="datetimeFigureOut">
              <a:rPr lang="en-US" smtClean="0"/>
              <a:t>12/4/25</a:t>
            </a:fld>
            <a:endParaRPr lang="en-US"/>
          </a:p>
        </p:txBody>
      </p:sp>
      <p:sp>
        <p:nvSpPr>
          <p:cNvPr id="5" name="Footer Placeholder 4">
            <a:extLst>
              <a:ext uri="{FF2B5EF4-FFF2-40B4-BE49-F238E27FC236}">
                <a16:creationId xmlns:a16="http://schemas.microsoft.com/office/drawing/2014/main" id="{96B2DBA1-49CD-0CEB-7AA5-6B55FB7F87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37CA52-66A2-96E9-C5CE-F08C2668A22C}"/>
              </a:ext>
            </a:extLst>
          </p:cNvPr>
          <p:cNvSpPr>
            <a:spLocks noGrp="1"/>
          </p:cNvSpPr>
          <p:nvPr>
            <p:ph type="sldNum" sz="quarter" idx="12"/>
          </p:nvPr>
        </p:nvSpPr>
        <p:spPr/>
        <p:txBody>
          <a:bodyPr/>
          <a:lstStyle/>
          <a:p>
            <a:fld id="{C3FA77D1-FD2F-0540-B7AA-E1CD39E3A511}" type="slidenum">
              <a:rPr lang="en-US" smtClean="0"/>
              <a:t>‹#›</a:t>
            </a:fld>
            <a:endParaRPr lang="en-US"/>
          </a:p>
        </p:txBody>
      </p:sp>
    </p:spTree>
    <p:extLst>
      <p:ext uri="{BB962C8B-B14F-4D97-AF65-F5344CB8AC3E}">
        <p14:creationId xmlns:p14="http://schemas.microsoft.com/office/powerpoint/2010/main" val="15377013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6B9CCC-6CC1-5D4B-03E2-068B46AF43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A2D702C-DB46-F88D-1064-0002F9A3B0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3ED316-897A-4698-A6DC-38DF0F6B093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67AE478-D44E-FE42-B366-E8DE952D93E4}" type="datetimeFigureOut">
              <a:rPr lang="en-US" smtClean="0"/>
              <a:t>12/4/25</a:t>
            </a:fld>
            <a:endParaRPr lang="en-US"/>
          </a:p>
        </p:txBody>
      </p:sp>
      <p:sp>
        <p:nvSpPr>
          <p:cNvPr id="5" name="Footer Placeholder 4">
            <a:extLst>
              <a:ext uri="{FF2B5EF4-FFF2-40B4-BE49-F238E27FC236}">
                <a16:creationId xmlns:a16="http://schemas.microsoft.com/office/drawing/2014/main" id="{962E72F2-20DD-DBAD-976F-B55F4C2CF74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CC08BEA-74C8-629A-B81C-7264B53AB73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3FA77D1-FD2F-0540-B7AA-E1CD39E3A511}" type="slidenum">
              <a:rPr lang="en-US" smtClean="0"/>
              <a:t>‹#›</a:t>
            </a:fld>
            <a:endParaRPr lang="en-US"/>
          </a:p>
        </p:txBody>
      </p:sp>
    </p:spTree>
    <p:extLst>
      <p:ext uri="{BB962C8B-B14F-4D97-AF65-F5344CB8AC3E}">
        <p14:creationId xmlns:p14="http://schemas.microsoft.com/office/powerpoint/2010/main" val="18494027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hyperlink" Target="https://doi.org/10.1038/s41588-020-0631-4" TargetMode="External"/><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emf"/><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0EFA0-7AB5-E704-3D78-3591741F47E8}"/>
              </a:ext>
            </a:extLst>
          </p:cNvPr>
          <p:cNvSpPr>
            <a:spLocks noGrp="1"/>
          </p:cNvSpPr>
          <p:nvPr>
            <p:ph type="ctrTitle"/>
          </p:nvPr>
        </p:nvSpPr>
        <p:spPr/>
        <p:txBody>
          <a:bodyPr/>
          <a:lstStyle/>
          <a:p>
            <a:r>
              <a:rPr lang="en-US" dirty="0"/>
              <a:t>Calcium-Cholesterol Project</a:t>
            </a:r>
          </a:p>
        </p:txBody>
      </p:sp>
      <p:sp>
        <p:nvSpPr>
          <p:cNvPr id="3" name="Subtitle 2">
            <a:extLst>
              <a:ext uri="{FF2B5EF4-FFF2-40B4-BE49-F238E27FC236}">
                <a16:creationId xmlns:a16="http://schemas.microsoft.com/office/drawing/2014/main" id="{D1595823-E2A1-DB23-741D-E8D134BC736E}"/>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22490386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1" name="Flowchart: Document 1030">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rgbClr val="4447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7F4827-A44E-6AAC-41E0-3237BA5449FE}"/>
              </a:ext>
            </a:extLst>
          </p:cNvPr>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Diversity Outbred Mice</a:t>
            </a:r>
          </a:p>
        </p:txBody>
      </p:sp>
      <p:pic>
        <p:nvPicPr>
          <p:cNvPr id="1026" name="Picture 2">
            <a:extLst>
              <a:ext uri="{FF2B5EF4-FFF2-40B4-BE49-F238E27FC236}">
                <a16:creationId xmlns:a16="http://schemas.microsoft.com/office/drawing/2014/main" id="{E5F157C7-CD64-C6ED-8EBF-7F07B41E30C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4469582" y="640080"/>
            <a:ext cx="6824239" cy="557881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FD8EB4E-BFD6-2498-E93A-49CADAC6C3BF}"/>
              </a:ext>
            </a:extLst>
          </p:cNvPr>
          <p:cNvSpPr txBox="1"/>
          <p:nvPr/>
        </p:nvSpPr>
        <p:spPr>
          <a:xfrm>
            <a:off x="3049121" y="3244334"/>
            <a:ext cx="6098240" cy="369332"/>
          </a:xfrm>
          <a:prstGeom prst="rect">
            <a:avLst/>
          </a:prstGeom>
          <a:noFill/>
        </p:spPr>
        <p:txBody>
          <a:bodyPr wrap="square">
            <a:spAutoFit/>
          </a:bodyPr>
          <a:lstStyle/>
          <a:p>
            <a:pPr>
              <a:spcAft>
                <a:spcPts val="600"/>
              </a:spcAft>
            </a:pPr>
            <a:r>
              <a:rPr lang="en-US" b="0" dirty="0">
                <a:effectLst/>
              </a:rPr>
              <a:t> </a:t>
            </a:r>
            <a:endParaRPr lang="en-US"/>
          </a:p>
        </p:txBody>
      </p:sp>
      <p:sp>
        <p:nvSpPr>
          <p:cNvPr id="6" name="TextBox 5">
            <a:extLst>
              <a:ext uri="{FF2B5EF4-FFF2-40B4-BE49-F238E27FC236}">
                <a16:creationId xmlns:a16="http://schemas.microsoft.com/office/drawing/2014/main" id="{104F810F-2A42-D760-7943-C46191A288FB}"/>
              </a:ext>
            </a:extLst>
          </p:cNvPr>
          <p:cNvSpPr txBox="1"/>
          <p:nvPr/>
        </p:nvSpPr>
        <p:spPr>
          <a:xfrm>
            <a:off x="336176" y="4101353"/>
            <a:ext cx="3133165" cy="2862322"/>
          </a:xfrm>
          <a:prstGeom prst="rect">
            <a:avLst/>
          </a:prstGeom>
          <a:noFill/>
        </p:spPr>
        <p:txBody>
          <a:bodyPr wrap="square" rtlCol="0">
            <a:spAutoFit/>
          </a:bodyPr>
          <a:lstStyle/>
          <a:p>
            <a:r>
              <a:rPr lang="en-US" dirty="0"/>
              <a:t>Saul MC, Philip VM, Reinholdt LG; Center for Systems Neurogenetics of Addiction; Chesler EJ. High-Diversity Mouse Populations for Complex Traits. Trends Genet. 2019 Jul;35(7):501-514. </a:t>
            </a:r>
            <a:r>
              <a:rPr lang="en-US" dirty="0" err="1"/>
              <a:t>doi</a:t>
            </a:r>
            <a:r>
              <a:rPr lang="en-US" dirty="0"/>
              <a:t>: 10.1016/j.tig.2019.04.003.</a:t>
            </a:r>
            <a:endParaRPr lang="en-US" b="0" dirty="0">
              <a:effectLst/>
            </a:endParaRPr>
          </a:p>
          <a:p>
            <a:br>
              <a:rPr lang="en-US" dirty="0"/>
            </a:br>
            <a:endParaRPr lang="en-US" dirty="0"/>
          </a:p>
        </p:txBody>
      </p:sp>
    </p:spTree>
    <p:extLst>
      <p:ext uri="{BB962C8B-B14F-4D97-AF65-F5344CB8AC3E}">
        <p14:creationId xmlns:p14="http://schemas.microsoft.com/office/powerpoint/2010/main" val="4107219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933CB4-4F9C-53F9-2889-4235F938D175}"/>
              </a:ext>
            </a:extLst>
          </p:cNvPr>
          <p:cNvSpPr>
            <a:spLocks noGrp="1"/>
          </p:cNvSpPr>
          <p:nvPr>
            <p:ph type="title"/>
          </p:nvPr>
        </p:nvSpPr>
        <p:spPr/>
        <p:txBody>
          <a:bodyPr/>
          <a:lstStyle/>
          <a:p>
            <a:r>
              <a:rPr lang="en-US" dirty="0"/>
              <a:t>Effects of Diet and Sex on Cholesterol Levels</a:t>
            </a:r>
          </a:p>
        </p:txBody>
      </p:sp>
      <p:pic>
        <p:nvPicPr>
          <p:cNvPr id="2050" name="Picture 2" descr="../../Mouse%20Genetics/Cholesterol/figures/cholesterol-analysis-1.pdf">
            <a:extLst>
              <a:ext uri="{FF2B5EF4-FFF2-40B4-BE49-F238E27FC236}">
                <a16:creationId xmlns:a16="http://schemas.microsoft.com/office/drawing/2014/main" id="{B53EE391-5D9B-5E91-DADF-C65D3D98E8E1}"/>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3049032" y="1825625"/>
            <a:ext cx="6093935"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503217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35D246-36FA-80EA-AF27-DB487F91A12C}"/>
              </a:ext>
            </a:extLst>
          </p:cNvPr>
          <p:cNvSpPr>
            <a:spLocks noGrp="1"/>
          </p:cNvSpPr>
          <p:nvPr>
            <p:ph type="title"/>
          </p:nvPr>
        </p:nvSpPr>
        <p:spPr/>
        <p:txBody>
          <a:bodyPr/>
          <a:lstStyle/>
          <a:p>
            <a:r>
              <a:rPr lang="en-US" dirty="0"/>
              <a:t>Cholesterol and Triglycerides Levels Correlate</a:t>
            </a:r>
          </a:p>
        </p:txBody>
      </p:sp>
      <p:pic>
        <p:nvPicPr>
          <p:cNvPr id="5" name="Content Placeholder 4">
            <a:extLst>
              <a:ext uri="{FF2B5EF4-FFF2-40B4-BE49-F238E27FC236}">
                <a16:creationId xmlns:a16="http://schemas.microsoft.com/office/drawing/2014/main" id="{B6DA849E-9852-5FBD-6A9D-5F13CEA0DFCC}"/>
              </a:ext>
            </a:extLst>
          </p:cNvPr>
          <p:cNvPicPr>
            <a:picLocks noGrp="1" noChangeAspect="1"/>
          </p:cNvPicPr>
          <p:nvPr>
            <p:ph idx="1"/>
          </p:nvPr>
        </p:nvPicPr>
        <p:blipFill>
          <a:blip r:embed="rId2"/>
          <a:stretch>
            <a:fillRect/>
          </a:stretch>
        </p:blipFill>
        <p:spPr>
          <a:xfrm>
            <a:off x="3050063" y="1825625"/>
            <a:ext cx="6091873" cy="4351338"/>
          </a:xfrm>
        </p:spPr>
      </p:pic>
    </p:spTree>
    <p:extLst>
      <p:ext uri="{BB962C8B-B14F-4D97-AF65-F5344CB8AC3E}">
        <p14:creationId xmlns:p14="http://schemas.microsoft.com/office/powerpoint/2010/main" val="32499112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0F8C5-4281-3CC0-2017-208C9B2E85E4}"/>
              </a:ext>
            </a:extLst>
          </p:cNvPr>
          <p:cNvSpPr>
            <a:spLocks noGrp="1"/>
          </p:cNvSpPr>
          <p:nvPr>
            <p:ph type="title"/>
          </p:nvPr>
        </p:nvSpPr>
        <p:spPr/>
        <p:txBody>
          <a:bodyPr/>
          <a:lstStyle/>
          <a:p>
            <a:r>
              <a:rPr lang="en-US" i="1" dirty="0"/>
              <a:t>a priori</a:t>
            </a:r>
            <a:r>
              <a:rPr lang="en-US" dirty="0"/>
              <a:t> predictors of high cholesterol in mice</a:t>
            </a:r>
            <a:endParaRPr lang="en-US" i="1" dirty="0"/>
          </a:p>
        </p:txBody>
      </p:sp>
      <p:pic>
        <p:nvPicPr>
          <p:cNvPr id="9" name="Content Placeholder 8">
            <a:extLst>
              <a:ext uri="{FF2B5EF4-FFF2-40B4-BE49-F238E27FC236}">
                <a16:creationId xmlns:a16="http://schemas.microsoft.com/office/drawing/2014/main" id="{903B8723-2DA8-038C-C0B4-4D12DE3FD27B}"/>
              </a:ext>
            </a:extLst>
          </p:cNvPr>
          <p:cNvPicPr>
            <a:picLocks noGrp="1" noChangeAspect="1"/>
          </p:cNvPicPr>
          <p:nvPr>
            <p:ph idx="1"/>
          </p:nvPr>
        </p:nvPicPr>
        <p:blipFill>
          <a:blip r:embed="rId2"/>
          <a:srcRect t="15329"/>
          <a:stretch>
            <a:fillRect/>
          </a:stretch>
        </p:blipFill>
        <p:spPr>
          <a:xfrm>
            <a:off x="-692727" y="1312956"/>
            <a:ext cx="10319573" cy="6241191"/>
          </a:xfrm>
        </p:spPr>
      </p:pic>
      <p:sp>
        <p:nvSpPr>
          <p:cNvPr id="10" name="TextBox 9">
            <a:extLst>
              <a:ext uri="{FF2B5EF4-FFF2-40B4-BE49-F238E27FC236}">
                <a16:creationId xmlns:a16="http://schemas.microsoft.com/office/drawing/2014/main" id="{6C8E003F-A6D3-EF22-F5D9-5C25ED6D6AAC}"/>
              </a:ext>
            </a:extLst>
          </p:cNvPr>
          <p:cNvSpPr txBox="1"/>
          <p:nvPr/>
        </p:nvSpPr>
        <p:spPr>
          <a:xfrm>
            <a:off x="8504627" y="5976142"/>
            <a:ext cx="2709140" cy="646331"/>
          </a:xfrm>
          <a:prstGeom prst="rect">
            <a:avLst/>
          </a:prstGeom>
          <a:noFill/>
        </p:spPr>
        <p:txBody>
          <a:bodyPr wrap="none" rtlCol="0">
            <a:spAutoFit/>
          </a:bodyPr>
          <a:lstStyle/>
          <a:p>
            <a:r>
              <a:rPr lang="en-US" dirty="0"/>
              <a:t>Mean cholesterol (mg/dL)</a:t>
            </a:r>
          </a:p>
          <a:p>
            <a:r>
              <a:rPr lang="en-US" dirty="0"/>
              <a:t>Number of mice</a:t>
            </a:r>
          </a:p>
        </p:txBody>
      </p:sp>
    </p:spTree>
    <p:extLst>
      <p:ext uri="{BB962C8B-B14F-4D97-AF65-F5344CB8AC3E}">
        <p14:creationId xmlns:p14="http://schemas.microsoft.com/office/powerpoint/2010/main" val="38555040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996AC-8F19-1E5C-65A5-6908AA6EC3B4}"/>
              </a:ext>
            </a:extLst>
          </p:cNvPr>
          <p:cNvSpPr>
            <a:spLocks noGrp="1"/>
          </p:cNvSpPr>
          <p:nvPr>
            <p:ph type="title"/>
          </p:nvPr>
        </p:nvSpPr>
        <p:spPr/>
        <p:txBody>
          <a:bodyPr/>
          <a:lstStyle/>
          <a:p>
            <a:r>
              <a:rPr lang="en-US" dirty="0"/>
              <a:t>Calcium is Associated with Cholesterol</a:t>
            </a:r>
          </a:p>
        </p:txBody>
      </p:sp>
      <p:pic>
        <p:nvPicPr>
          <p:cNvPr id="3074" name="Picture 2" descr="../../Mouse%20Genetics/Cholesterol/figures/Calcium-1.pdf">
            <a:extLst>
              <a:ext uri="{FF2B5EF4-FFF2-40B4-BE49-F238E27FC236}">
                <a16:creationId xmlns:a16="http://schemas.microsoft.com/office/drawing/2014/main" id="{8D8C37A8-CF39-E3B1-4EB4-9DBA6ED96991}"/>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3049032" y="1825625"/>
            <a:ext cx="6093935" cy="43513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0DD272B-ECA1-D14D-4A6A-B3E565C237E4}"/>
              </a:ext>
            </a:extLst>
          </p:cNvPr>
          <p:cNvSpPr txBox="1"/>
          <p:nvPr/>
        </p:nvSpPr>
        <p:spPr>
          <a:xfrm>
            <a:off x="623455" y="2798618"/>
            <a:ext cx="2008909" cy="1477328"/>
          </a:xfrm>
          <a:prstGeom prst="rect">
            <a:avLst/>
          </a:prstGeom>
          <a:noFill/>
        </p:spPr>
        <p:txBody>
          <a:bodyPr wrap="square" rtlCol="0">
            <a:spAutoFit/>
          </a:bodyPr>
          <a:lstStyle/>
          <a:p>
            <a:r>
              <a:rPr lang="en-US" dirty="0"/>
              <a:t>Explains 38-41% of the variance</a:t>
            </a:r>
          </a:p>
          <a:p>
            <a:endParaRPr lang="en-US" dirty="0"/>
          </a:p>
          <a:p>
            <a:r>
              <a:rPr lang="en-US" dirty="0"/>
              <a:t>Independent of diet and sex</a:t>
            </a:r>
          </a:p>
        </p:txBody>
      </p:sp>
    </p:spTree>
    <p:extLst>
      <p:ext uri="{BB962C8B-B14F-4D97-AF65-F5344CB8AC3E}">
        <p14:creationId xmlns:p14="http://schemas.microsoft.com/office/powerpoint/2010/main" val="3100231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Flowchart: Document 9">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49296D3-98F5-075C-9181-FF17E799379A}"/>
              </a:ext>
            </a:extLst>
          </p:cNvPr>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This positive association is also found in humans</a:t>
            </a:r>
          </a:p>
        </p:txBody>
      </p:sp>
      <p:pic>
        <p:nvPicPr>
          <p:cNvPr id="5" name="Content Placeholder 4">
            <a:extLst>
              <a:ext uri="{FF2B5EF4-FFF2-40B4-BE49-F238E27FC236}">
                <a16:creationId xmlns:a16="http://schemas.microsoft.com/office/drawing/2014/main" id="{1C12488F-5261-BB65-1939-0AC3892327C7}"/>
              </a:ext>
            </a:extLst>
          </p:cNvPr>
          <p:cNvPicPr>
            <a:picLocks noGrp="1" noChangeAspect="1"/>
          </p:cNvPicPr>
          <p:nvPr>
            <p:ph idx="1"/>
          </p:nvPr>
        </p:nvPicPr>
        <p:blipFill>
          <a:blip r:embed="rId2"/>
          <a:stretch>
            <a:fillRect/>
          </a:stretch>
        </p:blipFill>
        <p:spPr>
          <a:xfrm>
            <a:off x="4207933" y="798078"/>
            <a:ext cx="7347537" cy="5262819"/>
          </a:xfrm>
          <a:prstGeom prst="rect">
            <a:avLst/>
          </a:prstGeom>
        </p:spPr>
      </p:pic>
      <p:sp>
        <p:nvSpPr>
          <p:cNvPr id="3" name="TextBox 2">
            <a:extLst>
              <a:ext uri="{FF2B5EF4-FFF2-40B4-BE49-F238E27FC236}">
                <a16:creationId xmlns:a16="http://schemas.microsoft.com/office/drawing/2014/main" id="{BDD1A240-87EE-D23C-848A-EA180E9895D7}"/>
              </a:ext>
            </a:extLst>
          </p:cNvPr>
          <p:cNvSpPr txBox="1"/>
          <p:nvPr/>
        </p:nvSpPr>
        <p:spPr>
          <a:xfrm>
            <a:off x="7245927" y="5690590"/>
            <a:ext cx="3348930" cy="369332"/>
          </a:xfrm>
          <a:prstGeom prst="rect">
            <a:avLst/>
          </a:prstGeom>
          <a:noFill/>
        </p:spPr>
        <p:txBody>
          <a:bodyPr wrap="none" rtlCol="0">
            <a:spAutoFit/>
          </a:bodyPr>
          <a:lstStyle/>
          <a:p>
            <a:r>
              <a:rPr lang="en-US" dirty="0"/>
              <a:t>Correlation from human studies</a:t>
            </a:r>
          </a:p>
        </p:txBody>
      </p:sp>
    </p:spTree>
    <p:extLst>
      <p:ext uri="{BB962C8B-B14F-4D97-AF65-F5344CB8AC3E}">
        <p14:creationId xmlns:p14="http://schemas.microsoft.com/office/powerpoint/2010/main" val="18514152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8FE452-A4BF-8E1F-B328-DEEB811F6464}"/>
              </a:ext>
            </a:extLst>
          </p:cNvPr>
          <p:cNvSpPr>
            <a:spLocks noGrp="1"/>
          </p:cNvSpPr>
          <p:nvPr>
            <p:ph type="title"/>
          </p:nvPr>
        </p:nvSpPr>
        <p:spPr/>
        <p:txBody>
          <a:bodyPr/>
          <a:lstStyle/>
          <a:p>
            <a:r>
              <a:rPr lang="en-US" dirty="0"/>
              <a:t>Follow-up Questions</a:t>
            </a:r>
          </a:p>
        </p:txBody>
      </p:sp>
      <p:sp>
        <p:nvSpPr>
          <p:cNvPr id="3" name="Content Placeholder 2">
            <a:extLst>
              <a:ext uri="{FF2B5EF4-FFF2-40B4-BE49-F238E27FC236}">
                <a16:creationId xmlns:a16="http://schemas.microsoft.com/office/drawing/2014/main" id="{21D9398A-E8E4-8548-9657-6A3AD584E540}"/>
              </a:ext>
            </a:extLst>
          </p:cNvPr>
          <p:cNvSpPr>
            <a:spLocks noGrp="1"/>
          </p:cNvSpPr>
          <p:nvPr>
            <p:ph idx="1"/>
          </p:nvPr>
        </p:nvSpPr>
        <p:spPr/>
        <p:txBody>
          <a:bodyPr/>
          <a:lstStyle/>
          <a:p>
            <a:r>
              <a:rPr lang="en-US" dirty="0"/>
              <a:t>What is the </a:t>
            </a:r>
            <a:r>
              <a:rPr lang="en-US" u="sng" dirty="0"/>
              <a:t>direction</a:t>
            </a:r>
            <a:r>
              <a:rPr lang="en-US" b="1" dirty="0"/>
              <a:t> </a:t>
            </a:r>
            <a:r>
              <a:rPr lang="en-US" dirty="0"/>
              <a:t>of this relationship</a:t>
            </a:r>
          </a:p>
          <a:p>
            <a:pPr lvl="1"/>
            <a:r>
              <a:rPr lang="en-US" dirty="0"/>
              <a:t>Calcium -&gt; Cholesterol</a:t>
            </a:r>
          </a:p>
          <a:p>
            <a:pPr lvl="1"/>
            <a:r>
              <a:rPr lang="en-US" dirty="0"/>
              <a:t>Cholesterol -&gt; Calcium</a:t>
            </a:r>
          </a:p>
          <a:p>
            <a:pPr lvl="1"/>
            <a:r>
              <a:rPr lang="en-US" dirty="0"/>
              <a:t>Some third factor regulates both</a:t>
            </a:r>
          </a:p>
          <a:p>
            <a:r>
              <a:rPr lang="en-US" dirty="0"/>
              <a:t>What is the </a:t>
            </a:r>
            <a:r>
              <a:rPr lang="en-US" u="sng" dirty="0"/>
              <a:t>relevance</a:t>
            </a:r>
            <a:r>
              <a:rPr lang="en-US" dirty="0"/>
              <a:t> of this relationship</a:t>
            </a:r>
          </a:p>
        </p:txBody>
      </p:sp>
    </p:spTree>
    <p:extLst>
      <p:ext uri="{BB962C8B-B14F-4D97-AF65-F5344CB8AC3E}">
        <p14:creationId xmlns:p14="http://schemas.microsoft.com/office/powerpoint/2010/main" val="4189184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E9612-24ED-4C26-11F0-44A1E5B02D9C}"/>
              </a:ext>
            </a:extLst>
          </p:cNvPr>
          <p:cNvSpPr>
            <a:spLocks noGrp="1"/>
          </p:cNvSpPr>
          <p:nvPr>
            <p:ph type="title"/>
          </p:nvPr>
        </p:nvSpPr>
        <p:spPr/>
        <p:txBody>
          <a:bodyPr/>
          <a:lstStyle/>
          <a:p>
            <a:r>
              <a:rPr lang="en-US" dirty="0"/>
              <a:t>Assessing Directionality (Ongoing)</a:t>
            </a:r>
          </a:p>
        </p:txBody>
      </p:sp>
      <p:sp>
        <p:nvSpPr>
          <p:cNvPr id="3" name="Content Placeholder 2">
            <a:extLst>
              <a:ext uri="{FF2B5EF4-FFF2-40B4-BE49-F238E27FC236}">
                <a16:creationId xmlns:a16="http://schemas.microsoft.com/office/drawing/2014/main" id="{D2F69B2F-5081-34BA-1E17-37061CB58221}"/>
              </a:ext>
            </a:extLst>
          </p:cNvPr>
          <p:cNvSpPr>
            <a:spLocks noGrp="1"/>
          </p:cNvSpPr>
          <p:nvPr>
            <p:ph idx="1"/>
          </p:nvPr>
        </p:nvSpPr>
        <p:spPr/>
        <p:txBody>
          <a:bodyPr/>
          <a:lstStyle/>
          <a:p>
            <a:r>
              <a:rPr lang="en-US" dirty="0"/>
              <a:t>Mice with elevated cholesterol (WT and </a:t>
            </a:r>
            <a:r>
              <a:rPr lang="en-US" i="1" dirty="0" err="1"/>
              <a:t>Ldlr</a:t>
            </a:r>
            <a:r>
              <a:rPr lang="en-US" i="1" dirty="0"/>
              <a:t> </a:t>
            </a:r>
            <a:r>
              <a:rPr lang="en-US" i="1" baseline="30000" dirty="0"/>
              <a:t>-/-</a:t>
            </a:r>
            <a:r>
              <a:rPr lang="en-US" i="1" dirty="0"/>
              <a:t> </a:t>
            </a:r>
            <a:r>
              <a:rPr lang="en-US" dirty="0"/>
              <a:t> knockout mice)</a:t>
            </a:r>
          </a:p>
          <a:p>
            <a:pPr lvl="1"/>
            <a:r>
              <a:rPr lang="en-US" dirty="0"/>
              <a:t>Effects on cholesterol</a:t>
            </a:r>
          </a:p>
          <a:p>
            <a:pPr lvl="1"/>
            <a:r>
              <a:rPr lang="en-US" dirty="0"/>
              <a:t>Effects on calcium</a:t>
            </a:r>
          </a:p>
          <a:p>
            <a:pPr lvl="2"/>
            <a:r>
              <a:rPr lang="en-US" dirty="0"/>
              <a:t>Bone density, bone fragility</a:t>
            </a:r>
          </a:p>
          <a:p>
            <a:r>
              <a:rPr lang="en-US" dirty="0"/>
              <a:t>Mice with elevated calcium (PTH implanted)</a:t>
            </a:r>
          </a:p>
          <a:p>
            <a:pPr lvl="1"/>
            <a:r>
              <a:rPr lang="en-US" dirty="0"/>
              <a:t>Effects on calcium</a:t>
            </a:r>
          </a:p>
          <a:p>
            <a:pPr lvl="1"/>
            <a:r>
              <a:rPr lang="en-US" dirty="0"/>
              <a:t>Effects on cholesterol</a:t>
            </a:r>
          </a:p>
          <a:p>
            <a:r>
              <a:rPr lang="en-US" dirty="0"/>
              <a:t>Mice with elevations in both (PTH + </a:t>
            </a:r>
            <a:r>
              <a:rPr lang="en-US" i="1" dirty="0" err="1"/>
              <a:t>Ldlr</a:t>
            </a:r>
            <a:r>
              <a:rPr lang="en-US" i="1" dirty="0"/>
              <a:t> </a:t>
            </a:r>
            <a:r>
              <a:rPr lang="en-US" i="1" baseline="30000" dirty="0"/>
              <a:t>-/-</a:t>
            </a:r>
            <a:r>
              <a:rPr lang="en-US" dirty="0"/>
              <a:t>)</a:t>
            </a:r>
          </a:p>
        </p:txBody>
      </p:sp>
    </p:spTree>
    <p:extLst>
      <p:ext uri="{BB962C8B-B14F-4D97-AF65-F5344CB8AC3E}">
        <p14:creationId xmlns:p14="http://schemas.microsoft.com/office/powerpoint/2010/main" val="3534130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7A7D86-ACE3-C4DB-2DD2-204C762F49A9}"/>
              </a:ext>
            </a:extLst>
          </p:cNvPr>
          <p:cNvSpPr>
            <a:spLocks noGrp="1"/>
          </p:cNvSpPr>
          <p:nvPr>
            <p:ph type="title"/>
          </p:nvPr>
        </p:nvSpPr>
        <p:spPr/>
        <p:txBody>
          <a:bodyPr/>
          <a:lstStyle/>
          <a:p>
            <a:r>
              <a:rPr lang="en-US" dirty="0"/>
              <a:t>Bone demineralization and osteoporosis</a:t>
            </a:r>
          </a:p>
        </p:txBody>
      </p:sp>
      <p:pic>
        <p:nvPicPr>
          <p:cNvPr id="11" name="Content Placeholder 10" descr="A diagram of a health triangle&#10;&#10;AI-generated content may be incorrect.">
            <a:extLst>
              <a:ext uri="{FF2B5EF4-FFF2-40B4-BE49-F238E27FC236}">
                <a16:creationId xmlns:a16="http://schemas.microsoft.com/office/drawing/2014/main" id="{01D8BC24-2A77-F4FF-BA7C-7E3F27902A50}"/>
              </a:ext>
            </a:extLst>
          </p:cNvPr>
          <p:cNvPicPr>
            <a:picLocks noGrp="1" noChangeAspect="1"/>
          </p:cNvPicPr>
          <p:nvPr>
            <p:ph sz="half" idx="1"/>
          </p:nvPr>
        </p:nvPicPr>
        <p:blipFill rotWithShape="1">
          <a:blip r:embed="rId2"/>
          <a:stretch>
            <a:fillRect/>
          </a:stretch>
        </p:blipFill>
        <p:spPr bwMode="auto">
          <a:xfrm>
            <a:off x="1253331" y="1825625"/>
            <a:ext cx="4351338" cy="4351338"/>
          </a:xfrm>
          <a:prstGeom prst="rect">
            <a:avLst/>
          </a:prstGeom>
          <a:noFill/>
          <a:extLst>
            <a:ext uri="{909E8E84-426E-40DD-AFC4-6F175D3DCCD1}">
              <a14:hiddenFill xmlns:a14="http://schemas.microsoft.com/office/drawing/2010/main">
                <a:solidFill>
                  <a:srgbClr val="FFFFFF"/>
                </a:solidFill>
              </a14:hiddenFill>
            </a:ext>
          </a:extLst>
        </p:spPr>
      </p:pic>
      <p:sp>
        <p:nvSpPr>
          <p:cNvPr id="13" name="Content Placeholder 12">
            <a:extLst>
              <a:ext uri="{FF2B5EF4-FFF2-40B4-BE49-F238E27FC236}">
                <a16:creationId xmlns:a16="http://schemas.microsoft.com/office/drawing/2014/main" id="{63D5CD17-2EB3-464D-722B-4F6BEFDB6FFF}"/>
              </a:ext>
            </a:extLst>
          </p:cNvPr>
          <p:cNvSpPr>
            <a:spLocks noGrp="1"/>
          </p:cNvSpPr>
          <p:nvPr>
            <p:ph sz="half" idx="2"/>
          </p:nvPr>
        </p:nvSpPr>
        <p:spPr/>
        <p:txBody>
          <a:bodyPr/>
          <a:lstStyle/>
          <a:p>
            <a:r>
              <a:rPr lang="en-US" dirty="0"/>
              <a:t>Age related loss of bone density</a:t>
            </a:r>
          </a:p>
          <a:p>
            <a:pPr lvl="1"/>
            <a:r>
              <a:rPr lang="en-US" dirty="0"/>
              <a:t>10M Americans (8M are women)</a:t>
            </a:r>
          </a:p>
          <a:p>
            <a:endParaRPr lang="en-US" dirty="0"/>
          </a:p>
        </p:txBody>
      </p:sp>
      <p:sp>
        <p:nvSpPr>
          <p:cNvPr id="9" name="AutoShape 12" descr="Image of ">
            <a:extLst>
              <a:ext uri="{FF2B5EF4-FFF2-40B4-BE49-F238E27FC236}">
                <a16:creationId xmlns:a16="http://schemas.microsoft.com/office/drawing/2014/main" id="{EF105978-BF01-B63A-533A-670BB256627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TextBox 11">
            <a:extLst>
              <a:ext uri="{FF2B5EF4-FFF2-40B4-BE49-F238E27FC236}">
                <a16:creationId xmlns:a16="http://schemas.microsoft.com/office/drawing/2014/main" id="{9604351E-B4DB-FDAF-103E-DDF44081B811}"/>
              </a:ext>
            </a:extLst>
          </p:cNvPr>
          <p:cNvSpPr txBox="1"/>
          <p:nvPr/>
        </p:nvSpPr>
        <p:spPr>
          <a:xfrm>
            <a:off x="1911341" y="6311900"/>
            <a:ext cx="3035318" cy="369332"/>
          </a:xfrm>
          <a:prstGeom prst="rect">
            <a:avLst/>
          </a:prstGeom>
          <a:noFill/>
        </p:spPr>
        <p:txBody>
          <a:bodyPr wrap="none" rtlCol="0">
            <a:spAutoFit/>
          </a:bodyPr>
          <a:lstStyle/>
          <a:p>
            <a:r>
              <a:rPr lang="en-US" dirty="0"/>
              <a:t>Generated by Google Gemini</a:t>
            </a:r>
          </a:p>
        </p:txBody>
      </p:sp>
    </p:spTree>
    <p:extLst>
      <p:ext uri="{BB962C8B-B14F-4D97-AF65-F5344CB8AC3E}">
        <p14:creationId xmlns:p14="http://schemas.microsoft.com/office/powerpoint/2010/main" val="31739826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5BC95-5E21-9609-F149-691A7C074754}"/>
              </a:ext>
            </a:extLst>
          </p:cNvPr>
          <p:cNvSpPr>
            <a:spLocks noGrp="1"/>
          </p:cNvSpPr>
          <p:nvPr>
            <p:ph type="title"/>
          </p:nvPr>
        </p:nvSpPr>
        <p:spPr/>
        <p:txBody>
          <a:bodyPr/>
          <a:lstStyle/>
          <a:p>
            <a:r>
              <a:rPr lang="en-US" dirty="0"/>
              <a:t>Cholesterol and Bone Demineralization are Co-morbid</a:t>
            </a:r>
          </a:p>
        </p:txBody>
      </p:sp>
      <p:sp>
        <p:nvSpPr>
          <p:cNvPr id="3" name="Content Placeholder 2">
            <a:extLst>
              <a:ext uri="{FF2B5EF4-FFF2-40B4-BE49-F238E27FC236}">
                <a16:creationId xmlns:a16="http://schemas.microsoft.com/office/drawing/2014/main" id="{E0DCFF9E-5454-5E4E-52D1-0578474DB8AF}"/>
              </a:ext>
            </a:extLst>
          </p:cNvPr>
          <p:cNvSpPr>
            <a:spLocks noGrp="1"/>
          </p:cNvSpPr>
          <p:nvPr>
            <p:ph idx="1"/>
          </p:nvPr>
        </p:nvSpPr>
        <p:spPr/>
        <p:txBody>
          <a:bodyPr>
            <a:normAutofit/>
          </a:bodyPr>
          <a:lstStyle/>
          <a:p>
            <a:endParaRPr lang="en-US" dirty="0"/>
          </a:p>
          <a:p>
            <a:r>
              <a:rPr lang="en-US" dirty="0"/>
              <a:t>LDL-C is associated with fracture risk </a:t>
            </a:r>
            <a:r>
              <a:rPr lang="en-US" i="1" dirty="0"/>
              <a:t>(</a:t>
            </a:r>
            <a:r>
              <a:rPr lang="en-US" i="1" dirty="0" err="1"/>
              <a:t>Ghorabi</a:t>
            </a:r>
            <a:r>
              <a:rPr lang="en-US" i="1" dirty="0"/>
              <a:t> et al., 2019)</a:t>
            </a:r>
          </a:p>
          <a:p>
            <a:r>
              <a:rPr lang="en-US" dirty="0"/>
              <a:t>Inverse relationship between cardiovascular disease and bone mineral density </a:t>
            </a:r>
            <a:r>
              <a:rPr lang="en-US" i="1" dirty="0"/>
              <a:t>(Iseri et al., 2020; Yang &amp; Huang, 2023)</a:t>
            </a:r>
          </a:p>
          <a:p>
            <a:r>
              <a:rPr lang="en-US" dirty="0"/>
              <a:t>Statins causes a </a:t>
            </a:r>
            <a:r>
              <a:rPr lang="en-US" u="sng" dirty="0"/>
              <a:t>18-19% decline </a:t>
            </a:r>
            <a:r>
              <a:rPr lang="en-US" dirty="0"/>
              <a:t>in fracture risk </a:t>
            </a:r>
            <a:r>
              <a:rPr lang="en-US" i="1" dirty="0"/>
              <a:t>(An et al., 2017)</a:t>
            </a:r>
            <a:r>
              <a:rPr lang="en-US" dirty="0"/>
              <a:t> and a </a:t>
            </a:r>
            <a:r>
              <a:rPr lang="en-US" u="sng" dirty="0"/>
              <a:t>3.2% increase </a:t>
            </a:r>
            <a:r>
              <a:rPr lang="en-US" dirty="0"/>
              <a:t>in BMD (</a:t>
            </a:r>
            <a:r>
              <a:rPr lang="en-US" i="1" dirty="0"/>
              <a:t>Zhao et al., 2013, </a:t>
            </a:r>
            <a:r>
              <a:rPr lang="en-US" i="1" dirty="0" err="1"/>
              <a:t>Cheungsaman</a:t>
            </a:r>
            <a:r>
              <a:rPr lang="en-US" i="1" dirty="0"/>
              <a:t> et. al., 2010, </a:t>
            </a:r>
            <a:r>
              <a:rPr lang="en-US" dirty="0"/>
              <a:t>Wang </a:t>
            </a:r>
            <a:r>
              <a:rPr lang="en-US" i="1" dirty="0"/>
              <a:t>et. al., </a:t>
            </a:r>
            <a:r>
              <a:rPr lang="en-US" dirty="0"/>
              <a:t>2016)</a:t>
            </a:r>
          </a:p>
          <a:p>
            <a:endParaRPr lang="en-US" dirty="0"/>
          </a:p>
          <a:p>
            <a:endParaRPr lang="en-US" dirty="0"/>
          </a:p>
          <a:p>
            <a:endParaRPr lang="en-US" dirty="0"/>
          </a:p>
        </p:txBody>
      </p:sp>
    </p:spTree>
    <p:extLst>
      <p:ext uri="{BB962C8B-B14F-4D97-AF65-F5344CB8AC3E}">
        <p14:creationId xmlns:p14="http://schemas.microsoft.com/office/powerpoint/2010/main" val="30482747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05F7FC-65DC-D950-8BCD-40E2678F9949}"/>
              </a:ext>
            </a:extLst>
          </p:cNvPr>
          <p:cNvSpPr>
            <a:spLocks noGrp="1"/>
          </p:cNvSpPr>
          <p:nvPr>
            <p:ph type="title"/>
          </p:nvPr>
        </p:nvSpPr>
        <p:spPr/>
        <p:txBody>
          <a:bodyPr/>
          <a:lstStyle/>
          <a:p>
            <a:r>
              <a:rPr lang="en-US" dirty="0"/>
              <a:t>Mendelian Randomization</a:t>
            </a:r>
          </a:p>
        </p:txBody>
      </p:sp>
      <p:sp>
        <p:nvSpPr>
          <p:cNvPr id="7" name="AutoShape 8" descr="figure 1">
            <a:extLst>
              <a:ext uri="{FF2B5EF4-FFF2-40B4-BE49-F238E27FC236}">
                <a16:creationId xmlns:a16="http://schemas.microsoft.com/office/drawing/2014/main" id="{A1EF5DAA-A64F-8FEF-50AF-A42CC4D4E2FA}"/>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3" name="Content Placeholder 12" descr="A diagram of a test&#10;&#10;AI-generated content may be incorrect.">
            <a:extLst>
              <a:ext uri="{FF2B5EF4-FFF2-40B4-BE49-F238E27FC236}">
                <a16:creationId xmlns:a16="http://schemas.microsoft.com/office/drawing/2014/main" id="{49445B3F-20A8-2E7D-1640-7F72C15DED43}"/>
              </a:ext>
            </a:extLst>
          </p:cNvPr>
          <p:cNvPicPr>
            <a:picLocks noGrp="1" noChangeAspect="1"/>
          </p:cNvPicPr>
          <p:nvPr>
            <p:ph idx="1"/>
          </p:nvPr>
        </p:nvPicPr>
        <p:blipFill>
          <a:blip r:embed="rId2"/>
          <a:stretch>
            <a:fillRect/>
          </a:stretch>
        </p:blipFill>
        <p:spPr bwMode="auto">
          <a:xfrm>
            <a:off x="2460031" y="1825625"/>
            <a:ext cx="7271937" cy="4351338"/>
          </a:xfrm>
          <a:prstGeom prst="rect">
            <a:avLst/>
          </a:prstGeom>
          <a:noFill/>
          <a:extLst>
            <a:ext uri="{909E8E84-426E-40DD-AFC4-6F175D3DCCD1}">
              <a14:hiddenFill xmlns:a14="http://schemas.microsoft.com/office/drawing/2010/main">
                <a:solidFill>
                  <a:srgbClr val="FFFFFF"/>
                </a:solidFill>
              </a14:hiddenFill>
            </a:ext>
          </a:extLst>
        </p:spPr>
      </p:pic>
      <p:sp>
        <p:nvSpPr>
          <p:cNvPr id="9" name="AutoShape 12" descr="Fig. 1">
            <a:extLst>
              <a:ext uri="{FF2B5EF4-FFF2-40B4-BE49-F238E27FC236}">
                <a16:creationId xmlns:a16="http://schemas.microsoft.com/office/drawing/2014/main" id="{81C5EC10-6592-C240-9D7D-3357FDC78EB4}"/>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14" descr="Fig. 1">
            <a:extLst>
              <a:ext uri="{FF2B5EF4-FFF2-40B4-BE49-F238E27FC236}">
                <a16:creationId xmlns:a16="http://schemas.microsoft.com/office/drawing/2014/main" id="{DFFE1E88-C013-1891-E7E4-FDA9423C298E}"/>
              </a:ext>
            </a:extLst>
          </p:cNvPr>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16" descr="Fig. 1">
            <a:extLst>
              <a:ext uri="{FF2B5EF4-FFF2-40B4-BE49-F238E27FC236}">
                <a16:creationId xmlns:a16="http://schemas.microsoft.com/office/drawing/2014/main" id="{08E773C8-A948-4FA3-17CD-641234458C8E}"/>
              </a:ext>
            </a:extLst>
          </p:cNvPr>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6682251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AEA87-1782-7BB7-949B-BDB57C2CC749}"/>
              </a:ext>
            </a:extLst>
          </p:cNvPr>
          <p:cNvSpPr>
            <a:spLocks noGrp="1"/>
          </p:cNvSpPr>
          <p:nvPr>
            <p:ph type="title"/>
          </p:nvPr>
        </p:nvSpPr>
        <p:spPr/>
        <p:txBody>
          <a:bodyPr/>
          <a:lstStyle/>
          <a:p>
            <a:r>
              <a:rPr lang="en-US" dirty="0"/>
              <a:t>Two Sample Mendelian Randomization</a:t>
            </a:r>
          </a:p>
        </p:txBody>
      </p:sp>
      <p:pic>
        <p:nvPicPr>
          <p:cNvPr id="3074" name="Picture 2" descr="Relationship of one-sample and two-sample Mendelian randomization: populations and samples.  In all examples, the green box represents the same underlying population from which samples are drawn; the black circles represent the samples and the text in these summarises the source of association of genetic instrument with exposure (βZX) and association of genetic instrument with outcome (βZY). In one-sample MR (A) where βZX and βZY are estimated within the same population, there may be over-fitting of the data because the predicted (by genetic IV) values of X are then used to predict Y in the same sample. In this study type, weak instrument bias will be expected to bias towards the confounded result. In one-sample MR, it is not necessary to have exposures measured on all sample participants. For expensive exposures, these could be measured in a subsample (B). The properties and sources of bias will be broadly similar to those in (A), where exposures are measured in all participants, but the likelihood of weak instrument bias may be greater. When βZX is obtained in a one-sample MR study but with external weights (i.e., the&#10;association magnitudes taken from a GWAS to which the sample being used for the MR did not contribute), as shown in (C), over-fitting of the data is minimised. Ideally, in two-sample MR, both samples are drawn from the same underlying population but there is no overlap of participants between the two samples, as shown in (D). In this situation, data will not be over-fitted and any weak instrument bias would be expected to bias towards the null. As GWAS get larger, and with more cohorts contributing to them, the potential for overlap between samples in summary data two-sample MR becomes increasingly likely, as shown in (E). The more overlap there is between the two samples, the more effects of over-fitting and weak instrument bias become similar to those seen in one-sample MR. In figure (F), the two samples are drawn from two different underlying populations. This might occur when using MR for testing developmental origins, when βZX is estimated in pregnant women and βZY is estimated in their offspring. In that situation, it is important to consider (and ideally test) whether the βZX association in pregnancy is the same as in non-pregnant females and males (i.e., as in the offspring sample). Similarly, when using aggregate data in two-sample MR and when the outcome of interest can only occur in one sex (e.g., cervical or prostate cancer), ideally one would want aggregate βZX estimates to be sex-specific. If that is not possible, then drawing on other external evidence to consider the extent to which βZX is likely to be similar in females and males is important.">
            <a:extLst>
              <a:ext uri="{FF2B5EF4-FFF2-40B4-BE49-F238E27FC236}">
                <a16:creationId xmlns:a16="http://schemas.microsoft.com/office/drawing/2014/main" id="{3430BA37-3483-BC9B-DE27-525AEEBCA0EC}"/>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915968" y="1331193"/>
            <a:ext cx="7650942" cy="499653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1E7A558-5026-5AB4-8B62-57EE725F9AC9}"/>
              </a:ext>
            </a:extLst>
          </p:cNvPr>
          <p:cNvSpPr txBox="1"/>
          <p:nvPr/>
        </p:nvSpPr>
        <p:spPr>
          <a:xfrm>
            <a:off x="6206490" y="6488668"/>
            <a:ext cx="6577792" cy="369332"/>
          </a:xfrm>
          <a:prstGeom prst="rect">
            <a:avLst/>
          </a:prstGeom>
          <a:noFill/>
        </p:spPr>
        <p:txBody>
          <a:bodyPr wrap="square" rtlCol="0">
            <a:spAutoFit/>
          </a:bodyPr>
          <a:lstStyle/>
          <a:p>
            <a:r>
              <a:rPr lang="en-US" dirty="0"/>
              <a:t>https://</a:t>
            </a:r>
            <a:r>
              <a:rPr lang="en-US" dirty="0" err="1"/>
              <a:t>mr-dictionary.mrcieu.ac.uk</a:t>
            </a:r>
            <a:r>
              <a:rPr lang="en-US" dirty="0"/>
              <a:t>/term/non-overlapping/</a:t>
            </a:r>
          </a:p>
        </p:txBody>
      </p:sp>
      <p:sp>
        <p:nvSpPr>
          <p:cNvPr id="5" name="TextBox 4">
            <a:extLst>
              <a:ext uri="{FF2B5EF4-FFF2-40B4-BE49-F238E27FC236}">
                <a16:creationId xmlns:a16="http://schemas.microsoft.com/office/drawing/2014/main" id="{A2F5065C-7B33-118F-EB09-A89E402F5489}"/>
              </a:ext>
            </a:extLst>
          </p:cNvPr>
          <p:cNvSpPr txBox="1"/>
          <p:nvPr/>
        </p:nvSpPr>
        <p:spPr>
          <a:xfrm>
            <a:off x="1237577" y="4526280"/>
            <a:ext cx="678391" cy="369332"/>
          </a:xfrm>
          <a:prstGeom prst="rect">
            <a:avLst/>
          </a:prstGeom>
          <a:noFill/>
        </p:spPr>
        <p:txBody>
          <a:bodyPr wrap="none" rtlCol="0">
            <a:spAutoFit/>
          </a:bodyPr>
          <a:lstStyle/>
          <a:p>
            <a:r>
              <a:rPr lang="en-US" dirty="0"/>
              <a:t>Ideal</a:t>
            </a:r>
          </a:p>
        </p:txBody>
      </p:sp>
    </p:spTree>
    <p:extLst>
      <p:ext uri="{BB962C8B-B14F-4D97-AF65-F5344CB8AC3E}">
        <p14:creationId xmlns:p14="http://schemas.microsoft.com/office/powerpoint/2010/main" val="36307516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07019-D630-7A46-9FAF-93C5128E52B2}"/>
              </a:ext>
            </a:extLst>
          </p:cNvPr>
          <p:cNvSpPr>
            <a:spLocks noGrp="1"/>
          </p:cNvSpPr>
          <p:nvPr>
            <p:ph type="title"/>
          </p:nvPr>
        </p:nvSpPr>
        <p:spPr/>
        <p:txBody>
          <a:bodyPr/>
          <a:lstStyle/>
          <a:p>
            <a:r>
              <a:rPr lang="en-US" dirty="0"/>
              <a:t>Steps to a 2-step MR</a:t>
            </a:r>
          </a:p>
        </p:txBody>
      </p:sp>
      <p:sp>
        <p:nvSpPr>
          <p:cNvPr id="3" name="Content Placeholder 2">
            <a:extLst>
              <a:ext uri="{FF2B5EF4-FFF2-40B4-BE49-F238E27FC236}">
                <a16:creationId xmlns:a16="http://schemas.microsoft.com/office/drawing/2014/main" id="{0565608F-9B6F-B97A-67B0-97F16C4575E0}"/>
              </a:ext>
            </a:extLst>
          </p:cNvPr>
          <p:cNvSpPr>
            <a:spLocks noGrp="1"/>
          </p:cNvSpPr>
          <p:nvPr>
            <p:ph sz="half" idx="1"/>
          </p:nvPr>
        </p:nvSpPr>
        <p:spPr/>
        <p:txBody>
          <a:bodyPr>
            <a:normAutofit fontScale="85000" lnSpcReduction="10000"/>
          </a:bodyPr>
          <a:lstStyle/>
          <a:p>
            <a:r>
              <a:rPr lang="en-US" dirty="0"/>
              <a:t>Identify an exposure dataset</a:t>
            </a:r>
          </a:p>
          <a:p>
            <a:pPr lvl="1"/>
            <a:r>
              <a:rPr lang="en-US" dirty="0"/>
              <a:t>SNPs that associate with the exposure</a:t>
            </a:r>
          </a:p>
          <a:p>
            <a:r>
              <a:rPr lang="en-US" dirty="0"/>
              <a:t>Identify an outcome dataset</a:t>
            </a:r>
          </a:p>
          <a:p>
            <a:pPr lvl="1"/>
            <a:r>
              <a:rPr lang="en-US" dirty="0"/>
              <a:t>SNPs that associate with the outcome</a:t>
            </a:r>
          </a:p>
          <a:p>
            <a:pPr lvl="1"/>
            <a:r>
              <a:rPr lang="en-US" dirty="0"/>
              <a:t>Outcome should be similar ancestry but different participants</a:t>
            </a:r>
          </a:p>
          <a:p>
            <a:r>
              <a:rPr lang="en-US" dirty="0"/>
              <a:t>Harmonize SNPs</a:t>
            </a:r>
          </a:p>
          <a:p>
            <a:pPr lvl="1"/>
            <a:r>
              <a:rPr lang="en-US" dirty="0"/>
              <a:t>Clump SNPs in linkage dis-</a:t>
            </a:r>
            <a:r>
              <a:rPr lang="en-US" dirty="0" err="1"/>
              <a:t>equillibruim</a:t>
            </a:r>
            <a:endParaRPr lang="en-US" dirty="0"/>
          </a:p>
          <a:p>
            <a:pPr lvl="1"/>
            <a:r>
              <a:rPr lang="en-US" dirty="0"/>
              <a:t>Must be common (&gt;1%)</a:t>
            </a:r>
          </a:p>
          <a:p>
            <a:pPr lvl="1"/>
            <a:r>
              <a:rPr lang="en-US" dirty="0"/>
              <a:t>Must exist in both datasets</a:t>
            </a:r>
          </a:p>
          <a:p>
            <a:pPr lvl="1"/>
            <a:r>
              <a:rPr lang="en-US" dirty="0"/>
              <a:t>Must associate more strongly with exposure than the outcome</a:t>
            </a:r>
          </a:p>
        </p:txBody>
      </p:sp>
      <p:pic>
        <p:nvPicPr>
          <p:cNvPr id="6" name="Content Placeholder 5">
            <a:extLst>
              <a:ext uri="{FF2B5EF4-FFF2-40B4-BE49-F238E27FC236}">
                <a16:creationId xmlns:a16="http://schemas.microsoft.com/office/drawing/2014/main" id="{DDC95A38-0D84-3430-21FF-4DF3BF53A2C2}"/>
              </a:ext>
            </a:extLst>
          </p:cNvPr>
          <p:cNvPicPr>
            <a:picLocks noGrp="1" noChangeAspect="1"/>
          </p:cNvPicPr>
          <p:nvPr>
            <p:ph sz="half" idx="2"/>
          </p:nvPr>
        </p:nvPicPr>
        <p:blipFill>
          <a:blip r:embed="rId2"/>
          <a:stretch>
            <a:fillRect/>
          </a:stretch>
        </p:blipFill>
        <p:spPr>
          <a:xfrm>
            <a:off x="6362857" y="1825625"/>
            <a:ext cx="4800285" cy="4351338"/>
          </a:xfrm>
        </p:spPr>
      </p:pic>
    </p:spTree>
    <p:extLst>
      <p:ext uri="{BB962C8B-B14F-4D97-AF65-F5344CB8AC3E}">
        <p14:creationId xmlns:p14="http://schemas.microsoft.com/office/powerpoint/2010/main" val="29740092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7B6D0-AA28-8C05-E15D-ABAA279BE942}"/>
              </a:ext>
            </a:extLst>
          </p:cNvPr>
          <p:cNvSpPr>
            <a:spLocks noGrp="1"/>
          </p:cNvSpPr>
          <p:nvPr>
            <p:ph type="title"/>
          </p:nvPr>
        </p:nvSpPr>
        <p:spPr/>
        <p:txBody>
          <a:bodyPr/>
          <a:lstStyle/>
          <a:p>
            <a:r>
              <a:rPr lang="en-US" dirty="0"/>
              <a:t>Validation of Method</a:t>
            </a:r>
          </a:p>
        </p:txBody>
      </p:sp>
      <p:pic>
        <p:nvPicPr>
          <p:cNvPr id="6" name="Content Placeholder 5">
            <a:extLst>
              <a:ext uri="{FF2B5EF4-FFF2-40B4-BE49-F238E27FC236}">
                <a16:creationId xmlns:a16="http://schemas.microsoft.com/office/drawing/2014/main" id="{7CBB92C4-AEE1-FF12-5C2D-78B8A019FFA8}"/>
              </a:ext>
            </a:extLst>
          </p:cNvPr>
          <p:cNvPicPr>
            <a:picLocks noGrp="1" noChangeAspect="1"/>
          </p:cNvPicPr>
          <p:nvPr>
            <p:ph sz="half" idx="1"/>
          </p:nvPr>
        </p:nvPicPr>
        <p:blipFill>
          <a:blip r:embed="rId2"/>
          <a:stretch>
            <a:fillRect/>
          </a:stretch>
        </p:blipFill>
        <p:spPr>
          <a:xfrm>
            <a:off x="838200" y="2150723"/>
            <a:ext cx="5181600" cy="3701142"/>
          </a:xfrm>
        </p:spPr>
      </p:pic>
      <p:sp>
        <p:nvSpPr>
          <p:cNvPr id="4" name="Content Placeholder 3">
            <a:extLst>
              <a:ext uri="{FF2B5EF4-FFF2-40B4-BE49-F238E27FC236}">
                <a16:creationId xmlns:a16="http://schemas.microsoft.com/office/drawing/2014/main" id="{C4C1D350-38E0-D65A-30F4-CCC15088290A}"/>
              </a:ext>
            </a:extLst>
          </p:cNvPr>
          <p:cNvSpPr>
            <a:spLocks noGrp="1"/>
          </p:cNvSpPr>
          <p:nvPr>
            <p:ph sz="half" idx="2"/>
          </p:nvPr>
        </p:nvSpPr>
        <p:spPr/>
        <p:txBody>
          <a:bodyPr>
            <a:normAutofit lnSpcReduction="10000"/>
          </a:bodyPr>
          <a:lstStyle/>
          <a:p>
            <a:r>
              <a:rPr lang="en-US" dirty="0"/>
              <a:t>Exposure</a:t>
            </a:r>
          </a:p>
          <a:p>
            <a:pPr lvl="1"/>
            <a:r>
              <a:rPr lang="en-US" dirty="0"/>
              <a:t>Calcium SNPs (UKBB)</a:t>
            </a:r>
          </a:p>
          <a:p>
            <a:r>
              <a:rPr lang="en-US" dirty="0"/>
              <a:t>Outcome</a:t>
            </a:r>
          </a:p>
          <a:p>
            <a:pPr lvl="1"/>
            <a:r>
              <a:rPr lang="en-US" dirty="0"/>
              <a:t>Calcium SNPs (MGI/</a:t>
            </a:r>
            <a:r>
              <a:rPr lang="en-US" dirty="0" err="1"/>
              <a:t>BioVU</a:t>
            </a:r>
            <a:r>
              <a:rPr lang="en-US" dirty="0"/>
              <a:t>)</a:t>
            </a:r>
          </a:p>
          <a:p>
            <a:r>
              <a:rPr lang="en-US" dirty="0"/>
              <a:t>Results</a:t>
            </a:r>
          </a:p>
          <a:p>
            <a:pPr lvl="1"/>
            <a:r>
              <a:rPr lang="en-US" dirty="0"/>
              <a:t>Slope = 0.54 +/-  0.02</a:t>
            </a:r>
          </a:p>
          <a:p>
            <a:pPr lvl="1"/>
            <a:r>
              <a:rPr lang="en-US" dirty="0"/>
              <a:t>SD for calcium is ~0.5</a:t>
            </a:r>
          </a:p>
          <a:p>
            <a:pPr lvl="1"/>
            <a:r>
              <a:rPr lang="en-US" dirty="0"/>
              <a:t>1SD increase in genetically predicted calcium is associated with 1SD increase in calcium</a:t>
            </a:r>
          </a:p>
          <a:p>
            <a:pPr lvl="1"/>
            <a:r>
              <a:rPr lang="en-US" dirty="0"/>
              <a:t>P&lt;0.0001</a:t>
            </a:r>
          </a:p>
        </p:txBody>
      </p:sp>
    </p:spTree>
    <p:extLst>
      <p:ext uri="{BB962C8B-B14F-4D97-AF65-F5344CB8AC3E}">
        <p14:creationId xmlns:p14="http://schemas.microsoft.com/office/powerpoint/2010/main" val="24370683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83D56-43DA-4CC8-FFC2-1D421921BD38}"/>
              </a:ext>
            </a:extLst>
          </p:cNvPr>
          <p:cNvSpPr>
            <a:spLocks noGrp="1"/>
          </p:cNvSpPr>
          <p:nvPr>
            <p:ph type="title"/>
          </p:nvPr>
        </p:nvSpPr>
        <p:spPr/>
        <p:txBody>
          <a:bodyPr/>
          <a:lstStyle/>
          <a:p>
            <a:r>
              <a:rPr lang="en-US" dirty="0"/>
              <a:t>Some Caveats with the Methods Used</a:t>
            </a:r>
          </a:p>
        </p:txBody>
      </p:sp>
      <p:sp>
        <p:nvSpPr>
          <p:cNvPr id="3" name="Content Placeholder 2">
            <a:extLst>
              <a:ext uri="{FF2B5EF4-FFF2-40B4-BE49-F238E27FC236}">
                <a16:creationId xmlns:a16="http://schemas.microsoft.com/office/drawing/2014/main" id="{E02C07B5-6496-98F8-7F06-855842AA0183}"/>
              </a:ext>
            </a:extLst>
          </p:cNvPr>
          <p:cNvSpPr>
            <a:spLocks noGrp="1"/>
          </p:cNvSpPr>
          <p:nvPr>
            <p:ph sz="half" idx="1"/>
          </p:nvPr>
        </p:nvSpPr>
        <p:spPr/>
        <p:txBody>
          <a:bodyPr/>
          <a:lstStyle/>
          <a:p>
            <a:r>
              <a:rPr lang="en-US" dirty="0"/>
              <a:t>Weak instrument bias</a:t>
            </a:r>
          </a:p>
          <a:p>
            <a:r>
              <a:rPr lang="en-US" dirty="0"/>
              <a:t>Heterogeneity</a:t>
            </a:r>
          </a:p>
          <a:p>
            <a:r>
              <a:rPr lang="en-US" dirty="0"/>
              <a:t>Horizontal Pleiotropy</a:t>
            </a:r>
          </a:p>
          <a:p>
            <a:pPr lvl="1"/>
            <a:r>
              <a:rPr lang="en-US" dirty="0"/>
              <a:t>Correlated</a:t>
            </a:r>
          </a:p>
          <a:p>
            <a:pPr lvl="1"/>
            <a:r>
              <a:rPr lang="en-US" dirty="0"/>
              <a:t>Uncorrelated</a:t>
            </a:r>
          </a:p>
          <a:p>
            <a:r>
              <a:rPr lang="en-US" dirty="0"/>
              <a:t>Association Driven by a Small Number of Influential SNPs</a:t>
            </a:r>
          </a:p>
        </p:txBody>
      </p:sp>
      <p:pic>
        <p:nvPicPr>
          <p:cNvPr id="5" name="Content Placeholder 4">
            <a:extLst>
              <a:ext uri="{FF2B5EF4-FFF2-40B4-BE49-F238E27FC236}">
                <a16:creationId xmlns:a16="http://schemas.microsoft.com/office/drawing/2014/main" id="{B7DBE089-DDD7-AEB2-3FAA-4A5A1D81F867}"/>
              </a:ext>
            </a:extLst>
          </p:cNvPr>
          <p:cNvPicPr>
            <a:picLocks noGrp="1" noChangeAspect="1"/>
          </p:cNvPicPr>
          <p:nvPr>
            <p:ph sz="half" idx="2"/>
          </p:nvPr>
        </p:nvPicPr>
        <p:blipFill>
          <a:blip r:embed="rId2"/>
          <a:stretch>
            <a:fillRect/>
          </a:stretch>
        </p:blipFill>
        <p:spPr>
          <a:xfrm>
            <a:off x="6470650" y="2312194"/>
            <a:ext cx="4584700" cy="3378200"/>
          </a:xfrm>
          <a:prstGeom prst="rect">
            <a:avLst/>
          </a:prstGeom>
        </p:spPr>
      </p:pic>
      <p:sp>
        <p:nvSpPr>
          <p:cNvPr id="6" name="TextBox 5">
            <a:extLst>
              <a:ext uri="{FF2B5EF4-FFF2-40B4-BE49-F238E27FC236}">
                <a16:creationId xmlns:a16="http://schemas.microsoft.com/office/drawing/2014/main" id="{17E120DE-E303-BFFE-F9DD-0CBD90297966}"/>
              </a:ext>
            </a:extLst>
          </p:cNvPr>
          <p:cNvSpPr txBox="1"/>
          <p:nvPr/>
        </p:nvSpPr>
        <p:spPr>
          <a:xfrm>
            <a:off x="6470650" y="5690394"/>
            <a:ext cx="5721350" cy="1384995"/>
          </a:xfrm>
          <a:prstGeom prst="rect">
            <a:avLst/>
          </a:prstGeom>
          <a:noFill/>
        </p:spPr>
        <p:txBody>
          <a:bodyPr wrap="square" rtlCol="0">
            <a:spAutoFit/>
          </a:bodyPr>
          <a:lstStyle/>
          <a:p>
            <a:r>
              <a:rPr lang="en-US" sz="1400" dirty="0"/>
              <a:t>Morrison, Jean, Nicholas Knoblauch, Joseph H. Marcus, Matthew Stephens, and Xin He. “Mendelian Randomization Accounting for Correlated and Uncorrelated Pleiotropic Effects Using Genome-Wide Summary Statistics.” </a:t>
            </a:r>
            <a:r>
              <a:rPr lang="en-US" sz="1400" i="1" dirty="0"/>
              <a:t>Nature Genetics</a:t>
            </a:r>
            <a:r>
              <a:rPr lang="en-US" sz="1400" dirty="0"/>
              <a:t> 52, no. 7 (2020): 740–47. </a:t>
            </a:r>
            <a:r>
              <a:rPr lang="en-US" sz="1400" dirty="0">
                <a:hlinkClick r:id="rId3"/>
              </a:rPr>
              <a:t>https://doi.org/10.1038/s41588-020-0631-4</a:t>
            </a:r>
            <a:r>
              <a:rPr lang="en-US" sz="1400" dirty="0"/>
              <a:t>.</a:t>
            </a:r>
          </a:p>
          <a:p>
            <a:endParaRPr lang="en-US" sz="1400" dirty="0"/>
          </a:p>
        </p:txBody>
      </p:sp>
    </p:spTree>
    <p:extLst>
      <p:ext uri="{BB962C8B-B14F-4D97-AF65-F5344CB8AC3E}">
        <p14:creationId xmlns:p14="http://schemas.microsoft.com/office/powerpoint/2010/main" val="21931632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5255B-ACD0-15D7-D8B5-01ADCE41A2F8}"/>
              </a:ext>
            </a:extLst>
          </p:cNvPr>
          <p:cNvSpPr>
            <a:spLocks noGrp="1"/>
          </p:cNvSpPr>
          <p:nvPr>
            <p:ph type="title"/>
          </p:nvPr>
        </p:nvSpPr>
        <p:spPr/>
        <p:txBody>
          <a:bodyPr/>
          <a:lstStyle/>
          <a:p>
            <a:r>
              <a:rPr lang="en-US" dirty="0"/>
              <a:t>Statistical Methods</a:t>
            </a:r>
          </a:p>
        </p:txBody>
      </p:sp>
      <p:sp>
        <p:nvSpPr>
          <p:cNvPr id="3" name="Content Placeholder 2">
            <a:extLst>
              <a:ext uri="{FF2B5EF4-FFF2-40B4-BE49-F238E27FC236}">
                <a16:creationId xmlns:a16="http://schemas.microsoft.com/office/drawing/2014/main" id="{B23B23B4-4D45-3F44-B0B9-2C7CCC779C96}"/>
              </a:ext>
            </a:extLst>
          </p:cNvPr>
          <p:cNvSpPr>
            <a:spLocks noGrp="1"/>
          </p:cNvSpPr>
          <p:nvPr>
            <p:ph idx="1"/>
          </p:nvPr>
        </p:nvSpPr>
        <p:spPr/>
        <p:txBody>
          <a:bodyPr/>
          <a:lstStyle/>
          <a:p>
            <a:r>
              <a:rPr lang="en-US" dirty="0"/>
              <a:t>Primary method</a:t>
            </a:r>
          </a:p>
          <a:p>
            <a:pPr lvl="1"/>
            <a:r>
              <a:rPr lang="en-US" dirty="0"/>
              <a:t>Inverse Variance Weighted Multiplicative Random Effects (IVW-MRE)</a:t>
            </a:r>
          </a:p>
          <a:p>
            <a:r>
              <a:rPr lang="en-US" dirty="0"/>
              <a:t>Alternate methods</a:t>
            </a:r>
          </a:p>
          <a:p>
            <a:pPr lvl="1"/>
            <a:r>
              <a:rPr lang="en-US" dirty="0"/>
              <a:t>MR-IVW Fixed Effects (SNPs have same error)</a:t>
            </a:r>
          </a:p>
          <a:p>
            <a:pPr lvl="1"/>
            <a:r>
              <a:rPr lang="en-US" dirty="0"/>
              <a:t>MR-RAPS (SNPs have weak effect)</a:t>
            </a:r>
          </a:p>
          <a:p>
            <a:pPr lvl="1"/>
            <a:r>
              <a:rPr lang="en-US" dirty="0"/>
              <a:t>Weighted median (assumes only half SNPs are valid)</a:t>
            </a:r>
          </a:p>
          <a:p>
            <a:pPr lvl="1"/>
            <a:r>
              <a:rPr lang="en-US" dirty="0"/>
              <a:t>Weighted mode (plurality of SNPs have same valid effect)</a:t>
            </a:r>
          </a:p>
          <a:p>
            <a:pPr lvl="1"/>
            <a:r>
              <a:rPr lang="en-US" dirty="0"/>
              <a:t>MR-Egger (assumes uncorrelated pleiotropy)</a:t>
            </a:r>
          </a:p>
          <a:p>
            <a:pPr lvl="1"/>
            <a:r>
              <a:rPr lang="en-US" dirty="0"/>
              <a:t>MR-PRESSO (models for uncorrelated horizontal pleiotropy)</a:t>
            </a:r>
          </a:p>
          <a:p>
            <a:pPr lvl="1"/>
            <a:r>
              <a:rPr lang="en-US" dirty="0"/>
              <a:t>MR-CAUSE (models both correlated and uncorrelated pleiotropy)</a:t>
            </a:r>
          </a:p>
        </p:txBody>
      </p:sp>
    </p:spTree>
    <p:extLst>
      <p:ext uri="{BB962C8B-B14F-4D97-AF65-F5344CB8AC3E}">
        <p14:creationId xmlns:p14="http://schemas.microsoft.com/office/powerpoint/2010/main" val="3091675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5FF7A-9BEB-B8E3-AFBC-62B955BBCEDE}"/>
              </a:ext>
            </a:extLst>
          </p:cNvPr>
          <p:cNvSpPr>
            <a:spLocks noGrp="1"/>
          </p:cNvSpPr>
          <p:nvPr>
            <p:ph type="title"/>
          </p:nvPr>
        </p:nvSpPr>
        <p:spPr/>
        <p:txBody>
          <a:bodyPr/>
          <a:lstStyle/>
          <a:p>
            <a:r>
              <a:rPr lang="en-US" dirty="0"/>
              <a:t>Series of Tests for Those Assumptions</a:t>
            </a:r>
          </a:p>
        </p:txBody>
      </p:sp>
      <p:pic>
        <p:nvPicPr>
          <p:cNvPr id="8" name="Content Placeholder 7">
            <a:extLst>
              <a:ext uri="{FF2B5EF4-FFF2-40B4-BE49-F238E27FC236}">
                <a16:creationId xmlns:a16="http://schemas.microsoft.com/office/drawing/2014/main" id="{6E7FE670-99E5-3E65-69A7-111450B90368}"/>
              </a:ext>
            </a:extLst>
          </p:cNvPr>
          <p:cNvPicPr>
            <a:picLocks noGrp="1" noChangeAspect="1"/>
          </p:cNvPicPr>
          <p:nvPr>
            <p:ph sz="half" idx="1"/>
          </p:nvPr>
        </p:nvPicPr>
        <p:blipFill>
          <a:blip r:embed="rId2"/>
          <a:stretch>
            <a:fillRect/>
          </a:stretch>
        </p:blipFill>
        <p:spPr>
          <a:xfrm>
            <a:off x="838200" y="2150723"/>
            <a:ext cx="5181600" cy="3701142"/>
          </a:xfrm>
        </p:spPr>
      </p:pic>
      <p:sp>
        <p:nvSpPr>
          <p:cNvPr id="4" name="Content Placeholder 3">
            <a:extLst>
              <a:ext uri="{FF2B5EF4-FFF2-40B4-BE49-F238E27FC236}">
                <a16:creationId xmlns:a16="http://schemas.microsoft.com/office/drawing/2014/main" id="{45A4650B-083B-4BE5-4395-1FB883B8D563}"/>
              </a:ext>
            </a:extLst>
          </p:cNvPr>
          <p:cNvSpPr>
            <a:spLocks noGrp="1"/>
          </p:cNvSpPr>
          <p:nvPr>
            <p:ph sz="half" idx="2"/>
          </p:nvPr>
        </p:nvSpPr>
        <p:spPr/>
        <p:txBody>
          <a:bodyPr/>
          <a:lstStyle/>
          <a:p>
            <a:r>
              <a:rPr lang="en-US" dirty="0"/>
              <a:t>Instruments F&gt;10</a:t>
            </a:r>
          </a:p>
          <a:p>
            <a:pPr lvl="1"/>
            <a:r>
              <a:rPr lang="en-US" dirty="0"/>
              <a:t>If not use MR-RAPS</a:t>
            </a:r>
          </a:p>
          <a:p>
            <a:r>
              <a:rPr lang="en-US" dirty="0"/>
              <a:t>Significant heterogeneity</a:t>
            </a:r>
          </a:p>
          <a:p>
            <a:pPr lvl="1"/>
            <a:r>
              <a:rPr lang="en-US" dirty="0"/>
              <a:t>Used IVW-MRE not FE</a:t>
            </a:r>
          </a:p>
          <a:p>
            <a:r>
              <a:rPr lang="en-US" dirty="0"/>
              <a:t>Global tests (detects outliers)</a:t>
            </a:r>
          </a:p>
          <a:p>
            <a:pPr lvl="1"/>
            <a:r>
              <a:rPr lang="en-US" dirty="0"/>
              <a:t>If significant – outliers detected</a:t>
            </a:r>
          </a:p>
          <a:p>
            <a:pPr lvl="1"/>
            <a:r>
              <a:rPr lang="en-US" dirty="0"/>
              <a:t>Perform a distortion test</a:t>
            </a:r>
          </a:p>
          <a:p>
            <a:pPr lvl="2"/>
            <a:r>
              <a:rPr lang="en-US" dirty="0"/>
              <a:t>Adjusts for outliers (MR-PRESSO)</a:t>
            </a:r>
          </a:p>
          <a:p>
            <a:endParaRPr lang="en-US" dirty="0"/>
          </a:p>
        </p:txBody>
      </p:sp>
      <p:sp>
        <p:nvSpPr>
          <p:cNvPr id="9" name="TextBox 8">
            <a:extLst>
              <a:ext uri="{FF2B5EF4-FFF2-40B4-BE49-F238E27FC236}">
                <a16:creationId xmlns:a16="http://schemas.microsoft.com/office/drawing/2014/main" id="{FE644AC6-171B-2C4B-609E-3208FA39C3FC}"/>
              </a:ext>
            </a:extLst>
          </p:cNvPr>
          <p:cNvSpPr txBox="1"/>
          <p:nvPr/>
        </p:nvSpPr>
        <p:spPr>
          <a:xfrm>
            <a:off x="1898073" y="1690688"/>
            <a:ext cx="3685309" cy="369332"/>
          </a:xfrm>
          <a:prstGeom prst="rect">
            <a:avLst/>
          </a:prstGeom>
          <a:noFill/>
        </p:spPr>
        <p:txBody>
          <a:bodyPr wrap="square" rtlCol="0">
            <a:spAutoFit/>
          </a:bodyPr>
          <a:lstStyle/>
          <a:p>
            <a:r>
              <a:rPr lang="en-US" dirty="0"/>
              <a:t>Calcium-Calcium Positive Control</a:t>
            </a:r>
          </a:p>
        </p:txBody>
      </p:sp>
    </p:spTree>
    <p:extLst>
      <p:ext uri="{BB962C8B-B14F-4D97-AF65-F5344CB8AC3E}">
        <p14:creationId xmlns:p14="http://schemas.microsoft.com/office/powerpoint/2010/main" val="5736183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6D77C-EEA2-111D-5778-C7C0C738C7EB}"/>
              </a:ext>
            </a:extLst>
          </p:cNvPr>
          <p:cNvSpPr>
            <a:spLocks noGrp="1"/>
          </p:cNvSpPr>
          <p:nvPr>
            <p:ph type="title"/>
          </p:nvPr>
        </p:nvSpPr>
        <p:spPr/>
        <p:txBody>
          <a:bodyPr/>
          <a:lstStyle/>
          <a:p>
            <a:r>
              <a:rPr lang="en-US" dirty="0"/>
              <a:t>Models Testing the Association Between Cholesterol and Calcium</a:t>
            </a:r>
          </a:p>
        </p:txBody>
      </p:sp>
      <p:pic>
        <p:nvPicPr>
          <p:cNvPr id="7" name="Content Placeholder 6">
            <a:extLst>
              <a:ext uri="{FF2B5EF4-FFF2-40B4-BE49-F238E27FC236}">
                <a16:creationId xmlns:a16="http://schemas.microsoft.com/office/drawing/2014/main" id="{81D12783-BD4A-92C5-84A4-AEF706F75661}"/>
              </a:ext>
            </a:extLst>
          </p:cNvPr>
          <p:cNvPicPr>
            <a:picLocks noGrp="1" noChangeAspect="1"/>
          </p:cNvPicPr>
          <p:nvPr>
            <p:ph idx="1"/>
          </p:nvPr>
        </p:nvPicPr>
        <p:blipFill>
          <a:blip r:embed="rId2"/>
          <a:stretch>
            <a:fillRect/>
          </a:stretch>
        </p:blipFill>
        <p:spPr>
          <a:xfrm>
            <a:off x="3050063" y="1825625"/>
            <a:ext cx="6091873" cy="4351338"/>
          </a:xfrm>
        </p:spPr>
      </p:pic>
    </p:spTree>
    <p:extLst>
      <p:ext uri="{BB962C8B-B14F-4D97-AF65-F5344CB8AC3E}">
        <p14:creationId xmlns:p14="http://schemas.microsoft.com/office/powerpoint/2010/main" val="24187713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A6101-FB1A-3FF8-719B-0B750B7B7516}"/>
              </a:ext>
            </a:extLst>
          </p:cNvPr>
          <p:cNvSpPr>
            <a:spLocks noGrp="1"/>
          </p:cNvSpPr>
          <p:nvPr>
            <p:ph type="title"/>
          </p:nvPr>
        </p:nvSpPr>
        <p:spPr/>
        <p:txBody>
          <a:bodyPr/>
          <a:lstStyle/>
          <a:p>
            <a:r>
              <a:rPr lang="en-US" dirty="0"/>
              <a:t>SNP Level Associations for TC-Calcium</a:t>
            </a:r>
          </a:p>
        </p:txBody>
      </p:sp>
      <p:pic>
        <p:nvPicPr>
          <p:cNvPr id="5" name="Content Placeholder 4">
            <a:extLst>
              <a:ext uri="{FF2B5EF4-FFF2-40B4-BE49-F238E27FC236}">
                <a16:creationId xmlns:a16="http://schemas.microsoft.com/office/drawing/2014/main" id="{42834B48-7C3A-3EA1-264D-C873889DA346}"/>
              </a:ext>
            </a:extLst>
          </p:cNvPr>
          <p:cNvPicPr>
            <a:picLocks noGrp="1" noChangeAspect="1"/>
          </p:cNvPicPr>
          <p:nvPr>
            <p:ph idx="1"/>
          </p:nvPr>
        </p:nvPicPr>
        <p:blipFill>
          <a:blip r:embed="rId2"/>
          <a:stretch>
            <a:fillRect/>
          </a:stretch>
        </p:blipFill>
        <p:spPr>
          <a:xfrm>
            <a:off x="3050063" y="1825625"/>
            <a:ext cx="6091873" cy="4351338"/>
          </a:xfrm>
        </p:spPr>
      </p:pic>
      <p:sp>
        <p:nvSpPr>
          <p:cNvPr id="6" name="TextBox 5">
            <a:extLst>
              <a:ext uri="{FF2B5EF4-FFF2-40B4-BE49-F238E27FC236}">
                <a16:creationId xmlns:a16="http://schemas.microsoft.com/office/drawing/2014/main" id="{9F3AEA37-6869-B471-0EFC-039F33A2745B}"/>
              </a:ext>
            </a:extLst>
          </p:cNvPr>
          <p:cNvSpPr txBox="1"/>
          <p:nvPr/>
        </p:nvSpPr>
        <p:spPr>
          <a:xfrm>
            <a:off x="4900613" y="6176963"/>
            <a:ext cx="3454215" cy="369332"/>
          </a:xfrm>
          <a:prstGeom prst="rect">
            <a:avLst/>
          </a:prstGeom>
          <a:noFill/>
        </p:spPr>
        <p:txBody>
          <a:bodyPr wrap="none" rtlCol="0">
            <a:spAutoFit/>
          </a:bodyPr>
          <a:lstStyle/>
          <a:p>
            <a:r>
              <a:rPr lang="en-US" dirty="0"/>
              <a:t>Genetically Encoded Cholesterol</a:t>
            </a:r>
          </a:p>
        </p:txBody>
      </p:sp>
      <p:sp>
        <p:nvSpPr>
          <p:cNvPr id="7" name="TextBox 6">
            <a:extLst>
              <a:ext uri="{FF2B5EF4-FFF2-40B4-BE49-F238E27FC236}">
                <a16:creationId xmlns:a16="http://schemas.microsoft.com/office/drawing/2014/main" id="{9F746FD5-C530-18BC-BA39-D318968CE6CE}"/>
              </a:ext>
            </a:extLst>
          </p:cNvPr>
          <p:cNvSpPr txBox="1"/>
          <p:nvPr/>
        </p:nvSpPr>
        <p:spPr>
          <a:xfrm rot="16200000">
            <a:off x="2350673" y="3759059"/>
            <a:ext cx="1029449" cy="369332"/>
          </a:xfrm>
          <a:prstGeom prst="rect">
            <a:avLst/>
          </a:prstGeom>
          <a:noFill/>
        </p:spPr>
        <p:txBody>
          <a:bodyPr wrap="none" rtlCol="0">
            <a:spAutoFit/>
          </a:bodyPr>
          <a:lstStyle/>
          <a:p>
            <a:r>
              <a:rPr lang="en-US" dirty="0"/>
              <a:t>Calcium</a:t>
            </a:r>
          </a:p>
        </p:txBody>
      </p:sp>
    </p:spTree>
    <p:extLst>
      <p:ext uri="{BB962C8B-B14F-4D97-AF65-F5344CB8AC3E}">
        <p14:creationId xmlns:p14="http://schemas.microsoft.com/office/powerpoint/2010/main" val="23961537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C739B-7AE5-D2AE-6CF3-818BDFB256FA}"/>
              </a:ext>
            </a:extLst>
          </p:cNvPr>
          <p:cNvSpPr>
            <a:spLocks noGrp="1"/>
          </p:cNvSpPr>
          <p:nvPr>
            <p:ph type="title"/>
          </p:nvPr>
        </p:nvSpPr>
        <p:spPr/>
        <p:txBody>
          <a:bodyPr/>
          <a:lstStyle/>
          <a:p>
            <a:r>
              <a:rPr lang="en-US" dirty="0"/>
              <a:t>Validation Tests for Chol -&gt; Calcium</a:t>
            </a:r>
          </a:p>
        </p:txBody>
      </p:sp>
      <p:pic>
        <p:nvPicPr>
          <p:cNvPr id="7" name="Content Placeholder 6">
            <a:extLst>
              <a:ext uri="{FF2B5EF4-FFF2-40B4-BE49-F238E27FC236}">
                <a16:creationId xmlns:a16="http://schemas.microsoft.com/office/drawing/2014/main" id="{615F201A-0171-2328-896F-2FC930FC5345}"/>
              </a:ext>
            </a:extLst>
          </p:cNvPr>
          <p:cNvPicPr>
            <a:picLocks noGrp="1" noChangeAspect="1"/>
          </p:cNvPicPr>
          <p:nvPr>
            <p:ph sz="half" idx="1"/>
          </p:nvPr>
        </p:nvPicPr>
        <p:blipFill>
          <a:blip r:embed="rId2"/>
          <a:stretch>
            <a:fillRect/>
          </a:stretch>
        </p:blipFill>
        <p:spPr>
          <a:xfrm>
            <a:off x="838200" y="2150723"/>
            <a:ext cx="5181600" cy="3701142"/>
          </a:xfrm>
        </p:spPr>
      </p:pic>
      <p:pic>
        <p:nvPicPr>
          <p:cNvPr id="9" name="Content Placeholder 8">
            <a:extLst>
              <a:ext uri="{FF2B5EF4-FFF2-40B4-BE49-F238E27FC236}">
                <a16:creationId xmlns:a16="http://schemas.microsoft.com/office/drawing/2014/main" id="{D5ACF8AC-A57B-48CD-D44F-E4D615031BD7}"/>
              </a:ext>
            </a:extLst>
          </p:cNvPr>
          <p:cNvPicPr>
            <a:picLocks noGrp="1" noChangeAspect="1"/>
          </p:cNvPicPr>
          <p:nvPr>
            <p:ph sz="half" idx="2"/>
          </p:nvPr>
        </p:nvPicPr>
        <p:blipFill>
          <a:blip r:embed="rId3"/>
          <a:stretch>
            <a:fillRect/>
          </a:stretch>
        </p:blipFill>
        <p:spPr>
          <a:xfrm>
            <a:off x="6172200" y="2150723"/>
            <a:ext cx="5181600" cy="3701142"/>
          </a:xfrm>
        </p:spPr>
      </p:pic>
    </p:spTree>
    <p:extLst>
      <p:ext uri="{BB962C8B-B14F-4D97-AF65-F5344CB8AC3E}">
        <p14:creationId xmlns:p14="http://schemas.microsoft.com/office/powerpoint/2010/main" val="3850254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linds(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A23B5-01D2-030E-F22A-F2F00E1A5D77}"/>
              </a:ext>
            </a:extLst>
          </p:cNvPr>
          <p:cNvSpPr>
            <a:spLocks noGrp="1"/>
          </p:cNvSpPr>
          <p:nvPr>
            <p:ph type="title"/>
          </p:nvPr>
        </p:nvSpPr>
        <p:spPr/>
        <p:txBody>
          <a:bodyPr/>
          <a:lstStyle/>
          <a:p>
            <a:r>
              <a:rPr lang="en-US" dirty="0"/>
              <a:t>Overall Results</a:t>
            </a:r>
          </a:p>
        </p:txBody>
      </p:sp>
      <p:pic>
        <p:nvPicPr>
          <p:cNvPr id="10" name="Content Placeholder 9">
            <a:extLst>
              <a:ext uri="{FF2B5EF4-FFF2-40B4-BE49-F238E27FC236}">
                <a16:creationId xmlns:a16="http://schemas.microsoft.com/office/drawing/2014/main" id="{C049725B-73B6-03C9-1553-E0DCEF7D6363}"/>
              </a:ext>
            </a:extLst>
          </p:cNvPr>
          <p:cNvPicPr>
            <a:picLocks noGrp="1" noChangeAspect="1"/>
          </p:cNvPicPr>
          <p:nvPr>
            <p:ph idx="1"/>
          </p:nvPr>
        </p:nvPicPr>
        <p:blipFill>
          <a:blip r:embed="rId2"/>
          <a:stretch>
            <a:fillRect/>
          </a:stretch>
        </p:blipFill>
        <p:spPr>
          <a:xfrm>
            <a:off x="3050063" y="1825625"/>
            <a:ext cx="6091873" cy="4351338"/>
          </a:xfrm>
        </p:spPr>
      </p:pic>
    </p:spTree>
    <p:extLst>
      <p:ext uri="{BB962C8B-B14F-4D97-AF65-F5344CB8AC3E}">
        <p14:creationId xmlns:p14="http://schemas.microsoft.com/office/powerpoint/2010/main" val="12527834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2AD01A-BFE7-08A1-5A84-CDA86F4E6C6F}"/>
              </a:ext>
            </a:extLst>
          </p:cNvPr>
          <p:cNvSpPr>
            <a:spLocks noGrp="1"/>
          </p:cNvSpPr>
          <p:nvPr>
            <p:ph type="title"/>
          </p:nvPr>
        </p:nvSpPr>
        <p:spPr/>
        <p:txBody>
          <a:bodyPr/>
          <a:lstStyle/>
          <a:p>
            <a:r>
              <a:rPr lang="en-US" dirty="0"/>
              <a:t>Possible Biological Mechanism</a:t>
            </a:r>
          </a:p>
        </p:txBody>
      </p:sp>
      <p:sp>
        <p:nvSpPr>
          <p:cNvPr id="3" name="Content Placeholder 2">
            <a:extLst>
              <a:ext uri="{FF2B5EF4-FFF2-40B4-BE49-F238E27FC236}">
                <a16:creationId xmlns:a16="http://schemas.microsoft.com/office/drawing/2014/main" id="{CD5056C1-AD05-EF4E-7430-CC03222639A8}"/>
              </a:ext>
            </a:extLst>
          </p:cNvPr>
          <p:cNvSpPr>
            <a:spLocks noGrp="1"/>
          </p:cNvSpPr>
          <p:nvPr>
            <p:ph idx="1"/>
          </p:nvPr>
        </p:nvSpPr>
        <p:spPr/>
        <p:txBody>
          <a:bodyPr/>
          <a:lstStyle/>
          <a:p>
            <a:r>
              <a:rPr lang="en-US" dirty="0"/>
              <a:t>H1: Cholesterol -&gt; High Vitamin D </a:t>
            </a:r>
            <a:r>
              <a:rPr lang="en-US" dirty="0">
                <a:sym typeface="Wingdings" pitchFamily="2" charset="2"/>
              </a:rPr>
              <a:t> More Ca</a:t>
            </a:r>
          </a:p>
          <a:p>
            <a:r>
              <a:rPr lang="en-US" dirty="0">
                <a:sym typeface="Wingdings" pitchFamily="2" charset="2"/>
              </a:rPr>
              <a:t>H2: Cholesterol -&gt; Bone demineralization -&gt; More Ca	</a:t>
            </a:r>
          </a:p>
          <a:p>
            <a:endParaRPr lang="en-US" dirty="0">
              <a:sym typeface="Wingdings" pitchFamily="2" charset="2"/>
            </a:endParaRPr>
          </a:p>
          <a:p>
            <a:r>
              <a:rPr lang="en-US" dirty="0">
                <a:sym typeface="Wingdings" pitchFamily="2" charset="2"/>
              </a:rPr>
              <a:t>Exposure</a:t>
            </a:r>
          </a:p>
          <a:p>
            <a:pPr lvl="1"/>
            <a:r>
              <a:rPr lang="en-US" dirty="0">
                <a:sym typeface="Wingdings" pitchFamily="2" charset="2"/>
              </a:rPr>
              <a:t>Total Cholesterol SNPS from UK </a:t>
            </a:r>
            <a:r>
              <a:rPr lang="en-US" dirty="0" err="1">
                <a:sym typeface="Wingdings" pitchFamily="2" charset="2"/>
              </a:rPr>
              <a:t>BioBanl</a:t>
            </a:r>
            <a:endParaRPr lang="en-US" dirty="0">
              <a:sym typeface="Wingdings" pitchFamily="2" charset="2"/>
            </a:endParaRPr>
          </a:p>
          <a:p>
            <a:r>
              <a:rPr lang="en-US" dirty="0">
                <a:sym typeface="Wingdings" pitchFamily="2" charset="2"/>
              </a:rPr>
              <a:t>Outcomes</a:t>
            </a:r>
          </a:p>
          <a:p>
            <a:pPr lvl="1"/>
            <a:r>
              <a:rPr lang="en-US" dirty="0">
                <a:sym typeface="Wingdings" pitchFamily="2" charset="2"/>
              </a:rPr>
              <a:t>Vitamin D levels (MGI-</a:t>
            </a:r>
            <a:r>
              <a:rPr lang="en-US" dirty="0" err="1">
                <a:sym typeface="Wingdings" pitchFamily="2" charset="2"/>
              </a:rPr>
              <a:t>BioVU</a:t>
            </a:r>
            <a:r>
              <a:rPr lang="en-US" dirty="0">
                <a:sym typeface="Wingdings" pitchFamily="2" charset="2"/>
              </a:rPr>
              <a:t> </a:t>
            </a:r>
            <a:r>
              <a:rPr lang="en-US" dirty="0" err="1">
                <a:sym typeface="Wingdings" pitchFamily="2" charset="2"/>
              </a:rPr>
              <a:t>LabWAS</a:t>
            </a:r>
            <a:r>
              <a:rPr lang="en-US" dirty="0">
                <a:sym typeface="Wingdings" pitchFamily="2" charset="2"/>
              </a:rPr>
              <a:t>)</a:t>
            </a:r>
          </a:p>
          <a:p>
            <a:pPr lvl="1"/>
            <a:r>
              <a:rPr lang="en-US" dirty="0">
                <a:sym typeface="Wingdings" pitchFamily="2" charset="2"/>
              </a:rPr>
              <a:t>Bone mineral density (GEFOS)</a:t>
            </a:r>
          </a:p>
        </p:txBody>
      </p:sp>
    </p:spTree>
    <p:extLst>
      <p:ext uri="{BB962C8B-B14F-4D97-AF65-F5344CB8AC3E}">
        <p14:creationId xmlns:p14="http://schemas.microsoft.com/office/powerpoint/2010/main" val="1597897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98434-5FD8-89B6-50FC-5E402619950F}"/>
              </a:ext>
            </a:extLst>
          </p:cNvPr>
          <p:cNvSpPr>
            <a:spLocks noGrp="1"/>
          </p:cNvSpPr>
          <p:nvPr>
            <p:ph type="title"/>
          </p:nvPr>
        </p:nvSpPr>
        <p:spPr/>
        <p:txBody>
          <a:bodyPr/>
          <a:lstStyle/>
          <a:p>
            <a:r>
              <a:rPr lang="en-US" dirty="0"/>
              <a:t>Results</a:t>
            </a:r>
          </a:p>
        </p:txBody>
      </p:sp>
      <p:pic>
        <p:nvPicPr>
          <p:cNvPr id="7" name="Content Placeholder 6">
            <a:extLst>
              <a:ext uri="{FF2B5EF4-FFF2-40B4-BE49-F238E27FC236}">
                <a16:creationId xmlns:a16="http://schemas.microsoft.com/office/drawing/2014/main" id="{C610CA4F-59A7-C530-7F9F-D683B4954549}"/>
              </a:ext>
            </a:extLst>
          </p:cNvPr>
          <p:cNvPicPr>
            <a:picLocks noGrp="1" noChangeAspect="1"/>
          </p:cNvPicPr>
          <p:nvPr>
            <p:ph sz="half" idx="1"/>
          </p:nvPr>
        </p:nvPicPr>
        <p:blipFill>
          <a:blip r:embed="rId2"/>
          <a:stretch>
            <a:fillRect/>
          </a:stretch>
        </p:blipFill>
        <p:spPr>
          <a:xfrm>
            <a:off x="838200" y="2150723"/>
            <a:ext cx="5181600" cy="3701142"/>
          </a:xfrm>
        </p:spPr>
      </p:pic>
      <p:sp>
        <p:nvSpPr>
          <p:cNvPr id="5" name="Content Placeholder 4">
            <a:extLst>
              <a:ext uri="{FF2B5EF4-FFF2-40B4-BE49-F238E27FC236}">
                <a16:creationId xmlns:a16="http://schemas.microsoft.com/office/drawing/2014/main" id="{11FE1E24-0CA5-1293-F63A-505EF0BC96DE}"/>
              </a:ext>
            </a:extLst>
          </p:cNvPr>
          <p:cNvSpPr>
            <a:spLocks noGrp="1"/>
          </p:cNvSpPr>
          <p:nvPr>
            <p:ph sz="half" idx="2"/>
          </p:nvPr>
        </p:nvSpPr>
        <p:spPr/>
        <p:txBody>
          <a:bodyPr/>
          <a:lstStyle/>
          <a:p>
            <a:r>
              <a:rPr lang="en-US" dirty="0"/>
              <a:t>Bayesian Inference</a:t>
            </a:r>
          </a:p>
          <a:p>
            <a:r>
              <a:rPr lang="en-US" dirty="0"/>
              <a:t>Probability of hypothesis true</a:t>
            </a:r>
          </a:p>
          <a:p>
            <a:pPr lvl="1"/>
            <a:r>
              <a:rPr lang="en-US" dirty="0"/>
              <a:t>Vit D True = 2.5%</a:t>
            </a:r>
          </a:p>
          <a:p>
            <a:pPr lvl="1"/>
            <a:r>
              <a:rPr lang="en-US" dirty="0"/>
              <a:t>BMD True = 88.8%</a:t>
            </a:r>
          </a:p>
          <a:p>
            <a:pPr lvl="1"/>
            <a:r>
              <a:rPr lang="en-US" dirty="0"/>
              <a:t>Both True = 8.5%</a:t>
            </a:r>
          </a:p>
          <a:p>
            <a:pPr lvl="1"/>
            <a:r>
              <a:rPr lang="en-US" dirty="0"/>
              <a:t>Neither True = 0.2%</a:t>
            </a:r>
          </a:p>
        </p:txBody>
      </p:sp>
    </p:spTree>
    <p:extLst>
      <p:ext uri="{BB962C8B-B14F-4D97-AF65-F5344CB8AC3E}">
        <p14:creationId xmlns:p14="http://schemas.microsoft.com/office/powerpoint/2010/main" val="39426147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EE970E-2DFC-8F1D-0EC2-759D88FE01E9}"/>
              </a:ext>
            </a:extLst>
          </p:cNvPr>
          <p:cNvSpPr>
            <a:spLocks noGrp="1"/>
          </p:cNvSpPr>
          <p:nvPr>
            <p:ph type="title"/>
          </p:nvPr>
        </p:nvSpPr>
        <p:spPr/>
        <p:txBody>
          <a:bodyPr/>
          <a:lstStyle/>
          <a:p>
            <a:r>
              <a:rPr lang="en-US" dirty="0"/>
              <a:t>Relevance of co-morbid increases </a:t>
            </a:r>
          </a:p>
        </p:txBody>
      </p:sp>
      <p:sp>
        <p:nvSpPr>
          <p:cNvPr id="3" name="Content Placeholder 2">
            <a:extLst>
              <a:ext uri="{FF2B5EF4-FFF2-40B4-BE49-F238E27FC236}">
                <a16:creationId xmlns:a16="http://schemas.microsoft.com/office/drawing/2014/main" id="{D73DACDE-A2BA-5912-6E35-544C23AF9F7D}"/>
              </a:ext>
            </a:extLst>
          </p:cNvPr>
          <p:cNvSpPr>
            <a:spLocks noGrp="1"/>
          </p:cNvSpPr>
          <p:nvPr>
            <p:ph idx="1"/>
          </p:nvPr>
        </p:nvSpPr>
        <p:spPr/>
        <p:txBody>
          <a:bodyPr/>
          <a:lstStyle/>
          <a:p>
            <a:r>
              <a:rPr lang="en-US" dirty="0"/>
              <a:t>Individuals with osteoporosis have a &gt; 4 fold increased risk of myocardial infarction, and a &gt; 3.5x increased risk of stroke</a:t>
            </a:r>
            <a:r>
              <a:rPr lang="en-US" i="1" dirty="0"/>
              <a:t> (</a:t>
            </a:r>
            <a:r>
              <a:rPr lang="en-US" i="1" dirty="0" err="1"/>
              <a:t>Renjithlal</a:t>
            </a:r>
            <a:r>
              <a:rPr lang="en-US" i="1" dirty="0"/>
              <a:t> et al., 2022).</a:t>
            </a:r>
          </a:p>
          <a:p>
            <a:r>
              <a:rPr lang="en-US" dirty="0"/>
              <a:t>Elevated serum calcium was associated with increased risk of both myocardial infarction and coronary artery disease (</a:t>
            </a:r>
            <a:r>
              <a:rPr lang="en-US" i="1" dirty="0"/>
              <a:t>Jorde et. al., 1999, Foley et. al., 2008</a:t>
            </a:r>
            <a:r>
              <a:rPr lang="en-US" dirty="0"/>
              <a:t>) .</a:t>
            </a:r>
          </a:p>
          <a:p>
            <a:r>
              <a:rPr lang="en-US" dirty="0"/>
              <a:t>MR shows genetically encoded calcium increases risk of CAD or myocardial infarction by 24-25% per SD (Larssen </a:t>
            </a:r>
            <a:r>
              <a:rPr lang="en-US" i="1" dirty="0"/>
              <a:t>et. al., </a:t>
            </a:r>
            <a:r>
              <a:rPr lang="en-US" dirty="0"/>
              <a:t>2017).</a:t>
            </a:r>
          </a:p>
          <a:p>
            <a:endParaRPr lang="en-US" dirty="0"/>
          </a:p>
        </p:txBody>
      </p:sp>
    </p:spTree>
    <p:extLst>
      <p:ext uri="{BB962C8B-B14F-4D97-AF65-F5344CB8AC3E}">
        <p14:creationId xmlns:p14="http://schemas.microsoft.com/office/powerpoint/2010/main" val="35429173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A7BB2-6B11-15E3-B839-DBD022A04D82}"/>
              </a:ext>
            </a:extLst>
          </p:cNvPr>
          <p:cNvSpPr>
            <a:spLocks noGrp="1"/>
          </p:cNvSpPr>
          <p:nvPr>
            <p:ph type="title"/>
          </p:nvPr>
        </p:nvSpPr>
        <p:spPr/>
        <p:txBody>
          <a:bodyPr/>
          <a:lstStyle/>
          <a:p>
            <a:r>
              <a:rPr lang="en-US" dirty="0"/>
              <a:t>Design</a:t>
            </a:r>
          </a:p>
        </p:txBody>
      </p:sp>
      <p:sp>
        <p:nvSpPr>
          <p:cNvPr id="3" name="Content Placeholder 2">
            <a:extLst>
              <a:ext uri="{FF2B5EF4-FFF2-40B4-BE49-F238E27FC236}">
                <a16:creationId xmlns:a16="http://schemas.microsoft.com/office/drawing/2014/main" id="{EE7009FD-1057-B476-A2C5-9FC8AB425FEE}"/>
              </a:ext>
            </a:extLst>
          </p:cNvPr>
          <p:cNvSpPr>
            <a:spLocks noGrp="1"/>
          </p:cNvSpPr>
          <p:nvPr>
            <p:ph sz="half" idx="1"/>
          </p:nvPr>
        </p:nvSpPr>
        <p:spPr/>
        <p:txBody>
          <a:bodyPr/>
          <a:lstStyle/>
          <a:p>
            <a:r>
              <a:rPr lang="en-US" dirty="0"/>
              <a:t>Mice</a:t>
            </a:r>
          </a:p>
          <a:p>
            <a:pPr lvl="1"/>
            <a:r>
              <a:rPr lang="en-US" dirty="0"/>
              <a:t>Models</a:t>
            </a:r>
          </a:p>
          <a:p>
            <a:pPr lvl="2"/>
            <a:r>
              <a:rPr lang="en-US" dirty="0"/>
              <a:t>WT</a:t>
            </a:r>
          </a:p>
          <a:p>
            <a:pPr lvl="2"/>
            <a:r>
              <a:rPr lang="en-US" dirty="0"/>
              <a:t>PTH</a:t>
            </a:r>
          </a:p>
          <a:p>
            <a:pPr lvl="2"/>
            <a:r>
              <a:rPr lang="en-US" dirty="0"/>
              <a:t>LDR knockout</a:t>
            </a:r>
          </a:p>
          <a:p>
            <a:pPr lvl="2"/>
            <a:r>
              <a:rPr lang="en-US" dirty="0"/>
              <a:t>PTH + LDLR knockout</a:t>
            </a:r>
          </a:p>
          <a:p>
            <a:pPr lvl="1"/>
            <a:r>
              <a:rPr lang="en-US" dirty="0"/>
              <a:t>Outcomes</a:t>
            </a:r>
          </a:p>
          <a:p>
            <a:pPr lvl="2"/>
            <a:r>
              <a:rPr lang="en-US" dirty="0"/>
              <a:t>Atherosclerotic plaques</a:t>
            </a:r>
          </a:p>
          <a:p>
            <a:pPr lvl="2"/>
            <a:r>
              <a:rPr lang="en-US" dirty="0"/>
              <a:t>Memory?</a:t>
            </a:r>
          </a:p>
          <a:p>
            <a:pPr lvl="1"/>
            <a:endParaRPr lang="en-US" dirty="0"/>
          </a:p>
        </p:txBody>
      </p:sp>
      <p:sp>
        <p:nvSpPr>
          <p:cNvPr id="4" name="Content Placeholder 3">
            <a:extLst>
              <a:ext uri="{FF2B5EF4-FFF2-40B4-BE49-F238E27FC236}">
                <a16:creationId xmlns:a16="http://schemas.microsoft.com/office/drawing/2014/main" id="{8A413F27-14D4-D176-2B40-4E7655BB75B4}"/>
              </a:ext>
            </a:extLst>
          </p:cNvPr>
          <p:cNvSpPr>
            <a:spLocks noGrp="1"/>
          </p:cNvSpPr>
          <p:nvPr>
            <p:ph sz="half" idx="2"/>
          </p:nvPr>
        </p:nvSpPr>
        <p:spPr/>
        <p:txBody>
          <a:bodyPr/>
          <a:lstStyle/>
          <a:p>
            <a:r>
              <a:rPr lang="en-US" dirty="0"/>
              <a:t>Humans</a:t>
            </a:r>
          </a:p>
          <a:p>
            <a:pPr lvl="1"/>
            <a:r>
              <a:rPr lang="en-US" dirty="0"/>
              <a:t>Longitudinal analysis </a:t>
            </a:r>
          </a:p>
          <a:p>
            <a:pPr lvl="2"/>
            <a:r>
              <a:rPr lang="en-US" dirty="0"/>
              <a:t>Exposures</a:t>
            </a:r>
          </a:p>
          <a:p>
            <a:pPr lvl="3"/>
            <a:r>
              <a:rPr lang="en-US" dirty="0"/>
              <a:t>Cholesterol/LDL-C</a:t>
            </a:r>
          </a:p>
          <a:p>
            <a:pPr lvl="3"/>
            <a:r>
              <a:rPr lang="en-US" dirty="0"/>
              <a:t>Serum calcium</a:t>
            </a:r>
          </a:p>
          <a:p>
            <a:pPr lvl="2"/>
            <a:r>
              <a:rPr lang="en-US" dirty="0"/>
              <a:t>Outcomes </a:t>
            </a:r>
          </a:p>
          <a:p>
            <a:pPr lvl="3"/>
            <a:r>
              <a:rPr lang="en-US" dirty="0"/>
              <a:t>MACE</a:t>
            </a:r>
          </a:p>
          <a:p>
            <a:pPr lvl="2"/>
            <a:r>
              <a:rPr lang="en-US" dirty="0"/>
              <a:t>Covariates</a:t>
            </a:r>
          </a:p>
          <a:p>
            <a:pPr lvl="3"/>
            <a:r>
              <a:rPr lang="en-US" dirty="0"/>
              <a:t>Age</a:t>
            </a:r>
          </a:p>
          <a:p>
            <a:pPr lvl="3"/>
            <a:r>
              <a:rPr lang="en-US" dirty="0"/>
              <a:t>BMI</a:t>
            </a:r>
          </a:p>
          <a:p>
            <a:pPr lvl="3"/>
            <a:r>
              <a:rPr lang="en-US" dirty="0"/>
              <a:t>Diabetes</a:t>
            </a:r>
          </a:p>
          <a:p>
            <a:pPr lvl="3"/>
            <a:r>
              <a:rPr lang="en-US" dirty="0"/>
              <a:t>SES</a:t>
            </a:r>
          </a:p>
          <a:p>
            <a:endParaRPr lang="en-US" dirty="0"/>
          </a:p>
        </p:txBody>
      </p:sp>
    </p:spTree>
    <p:extLst>
      <p:ext uri="{BB962C8B-B14F-4D97-AF65-F5344CB8AC3E}">
        <p14:creationId xmlns:p14="http://schemas.microsoft.com/office/powerpoint/2010/main" val="15524526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6046</TotalTime>
  <Words>868</Words>
  <Application>Microsoft Macintosh PowerPoint</Application>
  <PresentationFormat>Widescreen</PresentationFormat>
  <Paragraphs>147</Paragraphs>
  <Slides>26</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vt:lpstr>
      <vt:lpstr>Aptos Display</vt:lpstr>
      <vt:lpstr>Arial</vt:lpstr>
      <vt:lpstr>Wingdings</vt:lpstr>
      <vt:lpstr>Office Theme</vt:lpstr>
      <vt:lpstr>Calcium-Cholesterol Project</vt:lpstr>
      <vt:lpstr>Diversity Outbred Mice</vt:lpstr>
      <vt:lpstr>Effects of Diet and Sex on Cholesterol Levels</vt:lpstr>
      <vt:lpstr>Cholesterol and Triglycerides Levels Correlate</vt:lpstr>
      <vt:lpstr>a priori predictors of high cholesterol in mice</vt:lpstr>
      <vt:lpstr>Calcium is Associated with Cholesterol</vt:lpstr>
      <vt:lpstr>This positive association is also found in humans</vt:lpstr>
      <vt:lpstr>Follow-up Questions</vt:lpstr>
      <vt:lpstr>Assessing Directionality (Ongoing)</vt:lpstr>
      <vt:lpstr>Bone demineralization and osteoporosis</vt:lpstr>
      <vt:lpstr>Cholesterol and Bone Demineralization are Co-morbid</vt:lpstr>
      <vt:lpstr>Mendelian Randomization</vt:lpstr>
      <vt:lpstr>Two Sample Mendelian Randomization</vt:lpstr>
      <vt:lpstr>Steps to a 2-step MR</vt:lpstr>
      <vt:lpstr>Validation of Method</vt:lpstr>
      <vt:lpstr>Some Caveats with the Methods Used</vt:lpstr>
      <vt:lpstr>Statistical Methods</vt:lpstr>
      <vt:lpstr>Series of Tests for Those Assumptions</vt:lpstr>
      <vt:lpstr>Models Testing the Association Between Cholesterol and Calcium</vt:lpstr>
      <vt:lpstr>SNP Level Associations for TC-Calcium</vt:lpstr>
      <vt:lpstr>Validation Tests for Chol -&gt; Calcium</vt:lpstr>
      <vt:lpstr>Overall Results</vt:lpstr>
      <vt:lpstr>Possible Biological Mechanism</vt:lpstr>
      <vt:lpstr>Results</vt:lpstr>
      <vt:lpstr>Relevance of co-morbid increases </vt:lpstr>
      <vt:lpstr>Design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Dave Bridges</dc:creator>
  <cp:lastModifiedBy>Dave Bridges</cp:lastModifiedBy>
  <cp:revision>17</cp:revision>
  <dcterms:created xsi:type="dcterms:W3CDTF">2025-11-25T15:13:33Z</dcterms:created>
  <dcterms:modified xsi:type="dcterms:W3CDTF">2025-12-04T22:48:26Z</dcterms:modified>
</cp:coreProperties>
</file>